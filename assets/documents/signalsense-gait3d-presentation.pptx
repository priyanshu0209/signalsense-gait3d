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1675"/>
  <p:notesSz cx="6858000" cy="9144000"/>
  <p:embeddedFontLst>
    <p:embeddedFont>
      <p:font typeface="Quattrocento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5" roundtripDataSignature="AMtx7mjol7sJOpxSLsKag2YB1AMD2Aez4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QuattrocentoSans-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QuattrocentoSans-italic.fntdata"/><Relationship Id="rId10" Type="http://schemas.openxmlformats.org/officeDocument/2006/relationships/slide" Target="slides/slide5.xml"/><Relationship Id="rId32" Type="http://schemas.openxmlformats.org/officeDocument/2006/relationships/font" Target="fonts/QuattrocentoSans-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QuattrocentoSans-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Good morning respected evaluation committee members, professors, and fellow researchers. Today, I am privileged to present our research defense on 'SignalSense-Gait3D: A Real-Time Wi-Fi Digital Twin Laboratory for Multi-User Human Motion Monitoring'. This research tackles the critical challenge of indoor human localization and spatial tracking by transforming off-the-shelf commercial Wi-Fi networks into an intelligent, non-intrusive, and privacy-preserving 3D digital twin testbed.</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Here is the detailed structural agenda for today's presentation. We will transition systematically from fundamental indoor monitoring concepts and problem motivation into our core hardware and software architecture. We will examine the real-time data streaming pipeline, mathematical distance models, and our interactive Three.js 3D visualization dashboard, finally concluding with technical limitations, future sensor enhancements, and live laboratory demonstrations.</a:t>
            </a:r>
            <a:endParaRPr/>
          </a:p>
        </p:txBody>
      </p:sp>
      <p:sp>
        <p:nvSpPr>
          <p:cNvPr id="97" name="Google Shape;97;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To introduce the domain, indoor human monitoring has emerged as a cornerstone for intelligent buildings, elderly healthcare caretaking, high-security facility management, and dynamic energy optimization. A Digital Twin in this domain refers to a real-time virtual simulation that accurately mirrors physical environmental states. Why choose Wi-Fi over conventional camera surveillance? Our approach leverages ambient Wi-Fi Received Signal Strength Indication (RSSI) to localize human users. This delivers three transformational benefits: absolute privacy preservation without facial capturing, extremely low cost by avoiding expensive camera setups, and rapid deployment by piggybacking on pre-existing enterprise Wi-Fi routers.</a:t>
            </a:r>
            <a:endParaRPr/>
          </a:p>
        </p:txBody>
      </p:sp>
      <p:sp>
        <p:nvSpPr>
          <p:cNvPr id="156" name="Google Shape;156;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This brings us directly to our formalized Problem Statement. Currently available indoor monitoring solutions exhibit critical technological friction points. Camera systems suffer from severe optical line-of-sight limitations, create immense privacy backlash in personal or enterprise settings, and introduce heavy installation and maintenance costs. On the other hand, traditional wearable trackers require physical compliance. Therefore, there exists a critical scientific and engineering gap: the urgent necessity for an accessible, real-time, non-camera, privacy-preserving monitoring framework capable of converting raw RF noise into a visually coherent 3D Digital Twin.</a:t>
            </a:r>
            <a:endParaRPr/>
          </a:p>
        </p:txBody>
      </p:sp>
      <p:sp>
        <p:nvSpPr>
          <p:cNvPr id="173" name="Google Shape;173;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To resolve these challenges, we established eight distinct engineering and research objectives for SignalSense-Gait3D. First, developing an end-to-end real-time Wi-Fi digital twin laboratory testbed. Second, implementing zero-configuration client discovery to detect connected Wi-Fi users automatically. Third, estimating spatial distances using mathematically filtered RSSI signal degradation equations. Fourth and fifth, displaying responsive 3D human avatars within a centralized enterprise web dashboard. Sixth, automating live topology graph updates. Seventh, structuring a scalable, asynchronous event-driven backend. And finally, engineering modular hardware interfaces to support future sensor expansions like Wi-Fi CSI, UWB, and mmWave radar.</a:t>
            </a:r>
            <a:endParaRPr/>
          </a:p>
        </p:txBody>
      </p:sp>
      <p:sp>
        <p:nvSpPr>
          <p:cNvPr id="192" name="Google Shape;19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Slide 6 presents our complete end-to-end system architecture. Our design is segmented into three logical tiers: The Physical Network &amp; Discovery Layer, the Backend Analytical Engine, and the Frontend 3D Visualization Pipeline. At the top left, standard Wi-Fi routers communicate with connected client devices. Our abstract Router Plugin periodically scrapes routing logs, feeding the Device Discovery engine and Device State Manager. Next, raw RSSI readings are harvested, smoothed by exponential moving average filters, and converted into radial distance estimates. Finally, these high-frequency telemetry packets are streamed over WebSockets into our React frontend, where our Three.js graphics engine interpolates coordinates to update virtual 3D human avatars in real-time.</a:t>
            </a:r>
            <a:endParaRPr/>
          </a:p>
        </p:txBody>
      </p:sp>
      <p:sp>
        <p:nvSpPr>
          <p:cNvPr id="219" name="Google Shape;219;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To construct this architecture, we curated an advanced, robust, and research-grade Technology Stack. Our backend is powered by Python 3.10+ utilizing the high-performance FastAPI framework, asynchronous WebSockets, and Pydantic for rigorous JSON telemetry schema validation. On the frontend, we utilize React 18 with TypeScript, bundled via blazing-fast Vite, styled with custom enterprise Vanilla CSS and Tailwind tokens, and powered by Three.js for hardware-accelerated 3D graphics. Finally, our networking protocol layer leverages SOAP, REST, and JSON RPC over TCP WebSockets to establish sub-second bi-directional synchronization between the physical router and virtual avatars.</a:t>
            </a:r>
            <a:endParaRPr/>
          </a:p>
        </p:txBody>
      </p:sp>
      <p:sp>
        <p:nvSpPr>
          <p:cNvPr id="251" name="Google Shape;251;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Diving deeper into the Backend Architecture, our server engine functions as a cohesive, multi-threaded processing pipeline. The Router Plugin acts as an abstract driver layer decoupling manufacturer-specific router APIs from our core code. The Discovery Engine monitors local network ARP tables and DHCP assignments to register clients. The DeviceStateManager maintains an asynchronous in-memory state registry tracking device presence, packet loss, and connectivity status. The RSSI Pipeline cleans noisy radio attenuation inputs, passing them into our Distance Engine which applies logarithmic propagation mathematics. Ultimately, the Telemetry hub condenses these analytics and broadcasts them instantly via our WebSocket Server for flawless synchronization.</a:t>
            </a:r>
            <a:endParaRPr/>
          </a:p>
        </p:txBody>
      </p:sp>
      <p:sp>
        <p:nvSpPr>
          <p:cNvPr id="268" name="Google Shape;26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Turning to our Frontend Architecture, the web application is built upon React 18 and Three.js, segregated into four specialized functional modules. First, the Realtime Dashboard and State Hooks provide an intuitive enterprise UI managing global socket connections, system notifications, and dark-theme rendering. Second, the Telemetry Panel renders fluid dynamic line charts graphing live RSSI attenuation histories and AI confidence metrics. Third, the Avatar Manager programmatically governs 3D humanoid lifecycles—instantiating models when devices join and purging them when they exit. Lastly, our Three.js Scene Renderer coordinates virtual room meshes, spatial shadows, camera orbit controls, and interactive ray-casting for item selection.</a:t>
            </a:r>
            <a:endParaRPr/>
          </a:p>
        </p:txBody>
      </p:sp>
      <p:sp>
        <p:nvSpPr>
          <p:cNvPr id="295" name="Google Shape;29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To clearly illustrate our operational runtime, Slide 10 traces the Live Data Flow through a single iteration of our synchronization pipeline. Step 1: Physical wireless user devices emit standard RF communications received by the campus router. Step 2: The backend engine polls raw Received Signal Strength Indication (RSSI) parameters in dBm. Step 3: Our mathematical Path Loss Propagation Model applies Exponential Moving Average algorithms to filter out room reflections and computes distance. Step 4: Formatted JSON payload packets are broadcasted over persistent TCP WebSockets. Step 5: The React Client reconciles state changes without latency. Step 6: The Three.js Digital Twin updates the virtual human avatar's radial placement across the 3D canvas.</a:t>
            </a:r>
            <a:endParaRPr/>
          </a:p>
        </p:txBody>
      </p:sp>
      <p:sp>
        <p:nvSpPr>
          <p:cNvPr id="314" name="Google Shape;314;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Slide 11 addresses our mathematical distance estimation model and its important scientific boundaries. To translate Received Signal Strength Indication into linear distance, we utilize the standard Log-Distance Path Loss Model. However, raw RSSI inside closed rooms is notoriously erratic due to multipath reflections, wall shadowing, and human body RF attenuation. To mitigate this signal noise, we apply an Exponential Moving Average (EMA) filtering algorithm that smooths high-frequency variance. Crucially, as academic evaluators must recognize, a single wireless Access Point provides an ESTIMATED RADIAL DISTANCE, NOT an exact Euclidean X/Y coordinate! Without multi-router triangulation, our digital twin visualizes radial coverage zones rather than fixed directional pinpoints.</a:t>
            </a:r>
            <a:endParaRPr/>
          </a:p>
        </p:txBody>
      </p:sp>
      <p:sp>
        <p:nvSpPr>
          <p:cNvPr id="346" name="Google Shape;346;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0" name="Google Shape;360;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Slide 12 showcases how our mathematical data is manifested within the 3D Digital Twin environment. The Three.js virtual room acts as a physical laboratory replica. The wireless Router is anchored in 3D coordinate space representing our physical gateway point. When a client device is discovered, a structured 3D Human Avatar is instantiated at the estimated radial position. Surrounding each avatar are dynamic color-coded coverage zones and radar rings that visualize distance confidence intervals. Most importantly, this virtual scene is driven by live WebSocket updates—ensuring automatic avatar spawning upon connection and instant cleanup when a client leaves the premises.</a:t>
            </a:r>
            <a:endParaRPr/>
          </a:p>
        </p:txBody>
      </p:sp>
      <p:sp>
        <p:nvSpPr>
          <p:cNvPr id="361" name="Google Shape;361;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One of the defining innovations of SignalSense-Gait3D is complete autonomy during client onboarding and offboarding, detailed here on Slide 13. We examine two contrasting operational workflows. In the On-Boarding Connection Workflow: A user enters the physical room with a smartphone; the router detects the Wi-Fi association; our backend discovery engine registers the MAC/IP fingerprint; an asynchronous WebSocket event is emitted; and immediately, an interactive 3D human avatar materializes in the virtual lab without human intervention. In the Off-Boarding Workflow: The user leaves the premises; the router flags an out-of-range timeout; the DeviceStateManager updates connectivity status to offline; a socket deletion push occurs; and the virtual avatar is cleanly removed from the 3D simulation.</a:t>
            </a:r>
            <a:endParaRPr/>
          </a:p>
        </p:txBody>
      </p:sp>
      <p:sp>
        <p:nvSpPr>
          <p:cNvPr id="388" name="Google Shape;38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Slide 14 presents our primary Dashboard Overview. In a live presentation, an experimental screenshot is inserted into this dedicated placeholder frame. The dashboard serves as the central command hub for research supervisors and evaluators. It provides immediate visibility into central Router Health, displaying active uptime, firmware metrics, and system CPU/Memory usage. On the right, clean tabular layouts summarize connected wireless clients, signal strength classifications, and quick navigation tabs to transition smoothly into Topology, 3D Laboratory, or deep analytical logs.</a:t>
            </a:r>
            <a:endParaRPr/>
          </a:p>
        </p:txBody>
      </p:sp>
      <p:sp>
        <p:nvSpPr>
          <p:cNvPr id="403" name="Google Shape;403;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Moving to our second core visual interface, Slide 15 illustrates the Live Network Topology View. Rather than forcing researchers to interpret dry IP routing tables, our application automatically generates an interactive node-link topology graph. The central router is depicted as the anchor root node, with branching edges connecting to active wireless client devices. These edges dynamically color-code based on real-time RSSI signal quality—green for excellent proximity, yellow for moderate attenuation, and red for weak outer coverage. The entire graph updates dynamically in real-time as users move around the lab.</a:t>
            </a:r>
            <a:endParaRPr/>
          </a:p>
        </p:txBody>
      </p:sp>
      <p:sp>
        <p:nvSpPr>
          <p:cNvPr id="420" name="Google Shape;420;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Slide 16 exhibits our crown jewel: the interactive 3D Digital Twin Laboratory View. Here, researchers step inside a complete virtual simulation of the physical testing environment rendered in real-time using Three.js and WebGL. The viewport renders room architecture, work tables, and the anchored Wi-Fi router. Connected human subjects appear as 3D human avatars stationed along their mathematically computed distance rings. Full orbital camera controls allow evaluators to zoom, pan, and rotate through the virtual space to inspect human mobility from any architectural viewpoint.</a:t>
            </a:r>
            <a:endParaRPr/>
          </a:p>
        </p:txBody>
      </p:sp>
      <p:sp>
        <p:nvSpPr>
          <p:cNvPr id="437" name="Google Shape;437;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When an investigator clicks on an individual avatar or network node, the deep Client Telemetry Panel comes into view, as shown here on Slide 17. This analytical sidebar provides comprehensive parameter drill-downs. It displays hardware identifiers including assigned IP, MAC address, and Wi-Fi band frequencies. Below identifiers, streaming multi-line charts continuously plot real-time RSSI attenuation histories and computed meter radii over time. Additionally, our AI confidence engine evaluates attenuation variance heuristics to classify user motion states as Static, Walking, or Transitioning in real-time.</a:t>
            </a:r>
            <a:endParaRPr/>
          </a:p>
        </p:txBody>
      </p:sp>
      <p:sp>
        <p:nvSpPr>
          <p:cNvPr id="454" name="Google Shape;454;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To synthesize our real-time software execution capabilities, Slide 18 details our six core runtime differentiators. Our testbed features instant Automatic Discovery without manual configuration; sub-second Live WebSocket Streaming over TCP; fully autonomous Avatar Creation and Removal; continuous Real-Time Trajectory Updates and signal charting; seamless Multi-User Simultaneous Tracking capable of monitoring numerous concurrent smartphones; and an intelligent Resilient Reconnection Engine that automatically recovers from transient network dropouts without requiring browser page refreshes.</a:t>
            </a:r>
            <a:endParaRPr/>
          </a:p>
        </p:txBody>
      </p:sp>
      <p:sp>
        <p:nvSpPr>
          <p:cNvPr id="471" name="Google Shape;471;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3" name="Google Shape;49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Beyond runtime performance, Slide 19 highlights our core Architectural and Design Features. We prioritized an Enterprise-Grade UI utilizing high-contrast dark navy color spaces that elicit a professional first impression. We achieved a Complete Digital Twin platform linking physical radio frequencies with virtual 3D simulation. The codebase is engineered to be Research &amp; Thesis Ready, generating structured CSV/SQLite logs for academic benchmarking. Furthermore, our extensible hardware design ensures seamless portability across router brands, all while maintaining a Zero-Client Software footprint where users simply carry ordinary smartphones.</a:t>
            </a:r>
            <a:endParaRPr/>
          </a:p>
        </p:txBody>
      </p:sp>
      <p:sp>
        <p:nvSpPr>
          <p:cNvPr id="494" name="Google Shape;494;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From an academic and scientific evaluation standpoint, Slide 20 condenses our core Research Contributions into four transformational advancements. First and foremost, we prove the viability of Privacy-Preserving, Camera-Free monitoring in indoor lab environments. Second, we deliver an open-source, enterprise-grade Digital Twin testbed framework bridging RF signal processing with Three.js graphics. Third, we formulate a highly scalable asynchronous state synchronization algorithm capable of processing noisy RSSI streams over WebSockets without packet loss. Fourth, our testbed serves as an academic baseline for future multi-sensor fusion experiments across smart buildings.</a:t>
            </a:r>
            <a:endParaRPr/>
          </a:p>
        </p:txBody>
      </p:sp>
      <p:sp>
        <p:nvSpPr>
          <p:cNvPr id="517" name="Google Shape;517;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5" name="Google Shape;53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In accordance with rigorous academic transparency, Slide 21 outlines the current Technical Limitations and boundaries of our system revision. Most prominently, deploying a Single Router Access Point inherently bounds accuracy to an ESTIMATED RADIAL DISTANCE. Because a single router functions as an omnidirectional antenna, we cannot obtain precise Cartesian (X, Y) coordinates without adding multiple routers for trilateration. Furthermore, raw RSSI measurements remain susceptible to indoor environmental noise, multipath wall reflections, and human body signal blocking. Finally, aggressive mobile smartphone sleep cycles can occasionally introduce transient polling delays during prolonged inactivity.</a:t>
            </a:r>
            <a:endParaRPr/>
          </a:p>
        </p:txBody>
      </p:sp>
      <p:sp>
        <p:nvSpPr>
          <p:cNvPr id="536" name="Google Shape;536;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0" name="Google Shape;550;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Looking toward the horizon, Slide 22 delineates our Future Scope and technological evolution roadmap. We have architected our software platform to seamlessly absorb next-generation sensing hardware. In Tier 1, we plan to upgrade from bulk RSSI to fine-grained Wi-Fi Channel State Information (CSI), analyzing orthogonal frequency subcarrier phases to unlock micro-gesture and gait identification. We will also integrate Ultra-Wideband (UWB) and 60GHz mmWave Radar for sub-centimeter positional precision. In Tier 2, we will introduce multi-router trilateration meshes and train deep neural networks directly on RF signatures for AI-driven skeletal pose estimation.</a:t>
            </a:r>
            <a:endParaRPr/>
          </a:p>
        </p:txBody>
      </p:sp>
      <p:sp>
        <p:nvSpPr>
          <p:cNvPr id="551" name="Google Shape;551;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Slide 23 serves as our Experimental Demo Showcase Gallery. During live presentation handouts or archive documentation, these six structured placeholder tiles house verified laboratory evaluation screenshots. They document our complete system functionality: Tile 1 displays the Global Health Dashboard; Tile 2 displays the force-directed Topology Node Graph; Tile 3 displays the 3D Laboratory simulation; Tile 4 displays the Client Telemetry Analytics charts; Tile 5 displays raw research data export interfaces; and Tile 6 showcases concurrent multi-user tracking during live laboratory walking demonstrations.</a:t>
            </a:r>
            <a:endParaRPr/>
          </a:p>
        </p:txBody>
      </p:sp>
      <p:sp>
        <p:nvSpPr>
          <p:cNvPr id="568" name="Google Shape;568;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6" name="Google Shape;596;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Before we conclude, Slide 24 consolidates our entire thesis trajectory into a single holistic unified flowchart diagram. We originated from an acute problem: existing indoor surveillance depends on invasive cameras and costly hardware. Our solution transformed ordinary Wi-Fi frequency attenuation into a non-intrusive spatial sensor. Through our automated pipeline—scraping router RSSI, filtering noise via asynchronous Python WebSockets, and reconciling state in React—we engineered an enterprise telemetry Dashboard and Three.js 3D Digital Twin laboratory. This culminates in our primary research output: a scalable, privacy-preserving, and extensible indoor monitoring framework ready for next-generation smart building deployments.</a:t>
            </a:r>
            <a:endParaRPr/>
          </a:p>
        </p:txBody>
      </p:sp>
      <p:sp>
        <p:nvSpPr>
          <p:cNvPr id="597" name="Google Shape;597;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8" name="Google Shape;608;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latin typeface="Quattrocento Sans"/>
                <a:ea typeface="Quattrocento Sans"/>
                <a:cs typeface="Quattrocento Sans"/>
                <a:sym typeface="Quattrocento Sans"/>
              </a:rPr>
              <a:t>In conclusion, SignalSense-Gait3D demonstrates that pre-existing Wi-Fi network infrastructure can be successfully elevated into an intelligent, real-time 3D Digital Twin laboratory without invading human personal privacy. We have successfully engineered, deployed, and validated an enterprise-ready software framework that bridges wireless radio signal processing with interactive Three.js simulation. Thank you very much for your valued time and attentiveness throughout this defense. I am now pleased to open the floor to any academic evaluation, critical questions, or collaborative discussions.</a:t>
            </a:r>
            <a:endParaRPr/>
          </a:p>
        </p:txBody>
      </p:sp>
      <p:sp>
        <p:nvSpPr>
          <p:cNvPr id="609" name="Google Shape;609;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5"/>
          <p:cNvSpPr/>
          <p:nvPr>
            <p:ph idx="2" type="pic"/>
          </p:nvPr>
        </p:nvSpPr>
        <p:spPr>
          <a:xfrm>
            <a:off x="1792288" y="612775"/>
            <a:ext cx="5486400" cy="4114800"/>
          </a:xfrm>
          <a:prstGeom prst="rect">
            <a:avLst/>
          </a:prstGeom>
          <a:noFill/>
          <a:ln>
            <a:noFill/>
          </a:ln>
        </p:spPr>
      </p:sp>
      <p:sp>
        <p:nvSpPr>
          <p:cNvPr id="64" name="Google Shape;64;p3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6.png"/><Relationship Id="rId8"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914400" y="731520"/>
            <a:ext cx="10362895" cy="5303520"/>
          </a:xfrm>
          <a:prstGeom prst="roundRect">
            <a:avLst>
              <a:gd fmla="val 16667" name="adj"/>
            </a:avLst>
          </a:prstGeom>
          <a:solidFill>
            <a:srgbClr val="152342"/>
          </a:solidFill>
          <a:ln cap="flat" cmpd="sng" w="254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txBox="1"/>
          <p:nvPr/>
        </p:nvSpPr>
        <p:spPr>
          <a:xfrm>
            <a:off x="1371600" y="1129005"/>
            <a:ext cx="9448500" cy="1785600"/>
          </a:xfrm>
          <a:prstGeom prst="rect">
            <a:avLst/>
          </a:prstGeom>
          <a:noFill/>
          <a:ln>
            <a:noFill/>
          </a:ln>
        </p:spPr>
        <p:txBody>
          <a:bodyPr anchorCtr="0" anchor="t" bIns="45700" lIns="91425" spcFirstLastPara="1" rIns="91425" wrap="square" tIns="45700">
            <a:spAutoFit/>
          </a:bodyPr>
          <a:lstStyle/>
          <a:p>
            <a:pPr indent="0" lvl="0" marL="0" marR="0" rtl="0" algn="l">
              <a:spcBef>
                <a:spcPts val="1500"/>
              </a:spcBef>
              <a:spcAft>
                <a:spcPts val="0"/>
              </a:spcAft>
              <a:buNone/>
            </a:pPr>
            <a:r>
              <a:rPr b="1" i="0" lang="en-US" sz="4400" u="none" cap="none" strike="noStrike">
                <a:solidFill>
                  <a:srgbClr val="FFFFFF"/>
                </a:solidFill>
                <a:latin typeface="Quattrocento Sans"/>
                <a:ea typeface="Quattrocento Sans"/>
                <a:cs typeface="Quattrocento Sans"/>
                <a:sym typeface="Quattrocento Sans"/>
              </a:rPr>
              <a:t>SignalSense-Gait-3D</a:t>
            </a:r>
            <a:endParaRPr/>
          </a:p>
          <a:p>
            <a:pPr indent="0" lvl="0" marL="0" marR="0" rtl="0" algn="l">
              <a:spcBef>
                <a:spcPts val="0"/>
              </a:spcBef>
              <a:spcAft>
                <a:spcPts val="0"/>
              </a:spcAft>
              <a:buNone/>
            </a:pPr>
            <a:r>
              <a:rPr b="0" i="0" lang="en-US" sz="2200" u="none" cap="none" strike="noStrike">
                <a:solidFill>
                  <a:srgbClr val="00C3FF"/>
                </a:solidFill>
                <a:latin typeface="Quattrocento Sans"/>
                <a:ea typeface="Quattrocento Sans"/>
                <a:cs typeface="Quattrocento Sans"/>
                <a:sym typeface="Quattrocento Sans"/>
              </a:rPr>
              <a:t>Real-Time Wi-Fi Digital Twin Laboratory for Multi-User Human Motion Monitoring</a:t>
            </a:r>
            <a:br>
              <a:rPr b="0" i="0" lang="en-US" sz="2200" u="none" cap="none" strike="noStrike">
                <a:solidFill>
                  <a:srgbClr val="00C3FF"/>
                </a:solidFill>
                <a:latin typeface="Quattrocento Sans"/>
                <a:ea typeface="Quattrocento Sans"/>
                <a:cs typeface="Quattrocento Sans"/>
                <a:sym typeface="Quattrocento Sans"/>
              </a:rPr>
            </a:br>
            <a:r>
              <a:rPr b="0" i="0" lang="en-US" sz="2200" u="none" cap="none" strike="noStrike">
                <a:solidFill>
                  <a:srgbClr val="00C3FF"/>
                </a:solidFill>
                <a:latin typeface="Quattrocento Sans"/>
                <a:ea typeface="Quattrocento Sans"/>
                <a:cs typeface="Quattrocento Sans"/>
                <a:sym typeface="Quattrocento Sans"/>
              </a:rPr>
              <a:t>Using Wi-Fi RSSI-Based Human Localization</a:t>
            </a:r>
            <a:endParaRPr/>
          </a:p>
        </p:txBody>
      </p:sp>
      <p:sp>
        <p:nvSpPr>
          <p:cNvPr id="88" name="Google Shape;88;p1"/>
          <p:cNvSpPr txBox="1"/>
          <p:nvPr/>
        </p:nvSpPr>
        <p:spPr>
          <a:xfrm>
            <a:off x="1371600" y="3291840"/>
            <a:ext cx="4572000" cy="2463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i="0" lang="en-US" sz="1300" u="none" cap="none" strike="noStrike">
                <a:solidFill>
                  <a:srgbClr val="38DAEC"/>
                </a:solidFill>
                <a:latin typeface="Calibri"/>
                <a:ea typeface="Calibri"/>
                <a:cs typeface="Calibri"/>
                <a:sym typeface="Calibri"/>
              </a:rPr>
              <a:t>🔹 PROJECT NAME: </a:t>
            </a:r>
            <a:r>
              <a:rPr b="1" i="0" lang="en-US" sz="1300" u="none" cap="none" strike="noStrike">
                <a:solidFill>
                  <a:srgbClr val="FFFFFF"/>
                </a:solidFill>
                <a:latin typeface="Calibri"/>
                <a:ea typeface="Calibri"/>
                <a:cs typeface="Calibri"/>
                <a:sym typeface="Calibri"/>
              </a:rPr>
              <a:t>SignalSense-Gait-3D</a:t>
            </a:r>
            <a:endParaRPr/>
          </a:p>
        </p:txBody>
      </p:sp>
      <p:sp>
        <p:nvSpPr>
          <p:cNvPr id="89" name="Google Shape;89;p1"/>
          <p:cNvSpPr txBox="1"/>
          <p:nvPr/>
        </p:nvSpPr>
        <p:spPr>
          <a:xfrm>
            <a:off x="6217920" y="3291840"/>
            <a:ext cx="4572000" cy="2463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300">
                <a:solidFill>
                  <a:srgbClr val="38DAEC"/>
                </a:solidFill>
                <a:latin typeface="Calibri"/>
                <a:ea typeface="Calibri"/>
                <a:cs typeface="Calibri"/>
                <a:sym typeface="Calibri"/>
              </a:rPr>
              <a:t>🔹 PRESENTER NAME: </a:t>
            </a:r>
            <a:r>
              <a:rPr b="1" lang="en-US" sz="1300">
                <a:solidFill>
                  <a:srgbClr val="FFFFFF"/>
                </a:solidFill>
                <a:latin typeface="Calibri"/>
                <a:ea typeface="Calibri"/>
                <a:cs typeface="Calibri"/>
                <a:sym typeface="Calibri"/>
              </a:rPr>
              <a:t>Priyanshu (Intern)</a:t>
            </a:r>
            <a:endParaRPr/>
          </a:p>
        </p:txBody>
      </p:sp>
      <p:sp>
        <p:nvSpPr>
          <p:cNvPr id="90" name="Google Shape;90;p1"/>
          <p:cNvSpPr txBox="1"/>
          <p:nvPr/>
        </p:nvSpPr>
        <p:spPr>
          <a:xfrm>
            <a:off x="1371600" y="3977640"/>
            <a:ext cx="4572000" cy="2463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300">
                <a:solidFill>
                  <a:srgbClr val="38DAEC"/>
                </a:solidFill>
                <a:latin typeface="Calibri"/>
                <a:ea typeface="Calibri"/>
                <a:cs typeface="Calibri"/>
                <a:sym typeface="Calibri"/>
              </a:rPr>
              <a:t>🔹 INSTITUTE: </a:t>
            </a:r>
            <a:r>
              <a:rPr b="1" lang="en-US" sz="1300">
                <a:solidFill>
                  <a:srgbClr val="FFFFFF"/>
                </a:solidFill>
                <a:latin typeface="Calibri"/>
                <a:ea typeface="Calibri"/>
                <a:cs typeface="Calibri"/>
                <a:sym typeface="Calibri"/>
              </a:rPr>
              <a:t>Indian Institute of Technology (IIT) Kharagpur</a:t>
            </a:r>
            <a:endParaRPr/>
          </a:p>
        </p:txBody>
      </p:sp>
      <p:sp>
        <p:nvSpPr>
          <p:cNvPr id="91" name="Google Shape;91;p1"/>
          <p:cNvSpPr txBox="1"/>
          <p:nvPr/>
        </p:nvSpPr>
        <p:spPr>
          <a:xfrm>
            <a:off x="6217920" y="3977640"/>
            <a:ext cx="4572000" cy="2463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300">
                <a:solidFill>
                  <a:srgbClr val="38DAEC"/>
                </a:solidFill>
                <a:latin typeface="Calibri"/>
                <a:ea typeface="Calibri"/>
                <a:cs typeface="Calibri"/>
                <a:sym typeface="Calibri"/>
              </a:rPr>
              <a:t>🔹 MENTOR NAME: </a:t>
            </a:r>
            <a:r>
              <a:rPr b="1" lang="en-US" sz="1300">
                <a:solidFill>
                  <a:srgbClr val="FFFFFF"/>
                </a:solidFill>
                <a:latin typeface="Calibri"/>
                <a:ea typeface="Calibri"/>
                <a:cs typeface="Calibri"/>
                <a:sym typeface="Calibri"/>
              </a:rPr>
              <a:t>Shubham sir</a:t>
            </a:r>
            <a:endParaRPr/>
          </a:p>
        </p:txBody>
      </p:sp>
      <p:sp>
        <p:nvSpPr>
          <p:cNvPr id="92" name="Google Shape;92;p1"/>
          <p:cNvSpPr txBox="1"/>
          <p:nvPr/>
        </p:nvSpPr>
        <p:spPr>
          <a:xfrm>
            <a:off x="1371600" y="4663440"/>
            <a:ext cx="4572000" cy="2463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300">
                <a:solidFill>
                  <a:srgbClr val="38DAEC"/>
                </a:solidFill>
                <a:latin typeface="Calibri"/>
                <a:ea typeface="Calibri"/>
                <a:cs typeface="Calibri"/>
                <a:sym typeface="Calibri"/>
              </a:rPr>
              <a:t>🔹 DATE: </a:t>
            </a:r>
            <a:r>
              <a:rPr b="1" lang="en-US" sz="1300">
                <a:solidFill>
                  <a:srgbClr val="FFFFFF"/>
                </a:solidFill>
                <a:latin typeface="Calibri"/>
                <a:ea typeface="Calibri"/>
                <a:cs typeface="Calibri"/>
                <a:sym typeface="Calibri"/>
              </a:rPr>
              <a:t>27 July 2026</a:t>
            </a:r>
            <a:endParaRPr/>
          </a:p>
        </p:txBody>
      </p:sp>
      <p:sp>
        <p:nvSpPr>
          <p:cNvPr id="93" name="Google Shape;93;p1"/>
          <p:cNvSpPr txBox="1"/>
          <p:nvPr/>
        </p:nvSpPr>
        <p:spPr>
          <a:xfrm>
            <a:off x="6217920" y="4663440"/>
            <a:ext cx="4572000" cy="2463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300">
                <a:solidFill>
                  <a:srgbClr val="38DAEC"/>
                </a:solidFill>
                <a:latin typeface="Calibri"/>
                <a:ea typeface="Calibri"/>
                <a:cs typeface="Calibri"/>
                <a:sym typeface="Calibri"/>
              </a:rPr>
              <a:t>🔹 BACKGROUND: </a:t>
            </a:r>
            <a:r>
              <a:rPr b="1" lang="en-US" sz="1300">
                <a:solidFill>
                  <a:srgbClr val="FFFFFF"/>
                </a:solidFill>
                <a:latin typeface="Calibri"/>
                <a:ea typeface="Calibri"/>
                <a:cs typeface="Calibri"/>
                <a:sym typeface="Calibri"/>
              </a:rPr>
              <a:t>Signal Sense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2"/>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01. PRESENTATION OVERVIEW</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Presentation Agenda &amp; Content Roadmap</a:t>
            </a:r>
            <a:endParaRPr/>
          </a:p>
        </p:txBody>
      </p:sp>
      <p:sp>
        <p:nvSpPr>
          <p:cNvPr id="101" name="Google Shape;101;p2"/>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2"/>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2"/>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104" name="Google Shape;104;p2"/>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2 / 25</a:t>
            </a:r>
            <a:endParaRPr/>
          </a:p>
        </p:txBody>
      </p:sp>
      <p:sp>
        <p:nvSpPr>
          <p:cNvPr id="105" name="Google Shape;105;p2"/>
          <p:cNvSpPr/>
          <p:nvPr/>
        </p:nvSpPr>
        <p:spPr>
          <a:xfrm>
            <a:off x="548640" y="1463040"/>
            <a:ext cx="2697480" cy="694944"/>
          </a:xfrm>
          <a:prstGeom prst="roundRect">
            <a:avLst>
              <a:gd fmla="val 16667" name="adj"/>
            </a:avLst>
          </a:prstGeom>
          <a:solidFill>
            <a:srgbClr val="152342"/>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2"/>
          <p:cNvSpPr txBox="1"/>
          <p:nvPr/>
        </p:nvSpPr>
        <p:spPr>
          <a:xfrm>
            <a:off x="640080" y="1572768"/>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FFFFFF"/>
                </a:solidFill>
                <a:latin typeface="Quattrocento Sans"/>
                <a:ea typeface="Quattrocento Sans"/>
                <a:cs typeface="Quattrocento Sans"/>
                <a:sym typeface="Quattrocento Sans"/>
              </a:rPr>
              <a:t>📍 [01]  Introduction &amp; Domain Background</a:t>
            </a:r>
            <a:endParaRPr/>
          </a:p>
        </p:txBody>
      </p:sp>
      <p:sp>
        <p:nvSpPr>
          <p:cNvPr id="107" name="Google Shape;107;p2"/>
          <p:cNvSpPr/>
          <p:nvPr/>
        </p:nvSpPr>
        <p:spPr>
          <a:xfrm>
            <a:off x="548640" y="2249424"/>
            <a:ext cx="2697480" cy="694944"/>
          </a:xfrm>
          <a:prstGeom prst="roundRect">
            <a:avLst>
              <a:gd fmla="val 16667" name="adj"/>
            </a:avLst>
          </a:prstGeom>
          <a:solidFill>
            <a:srgbClr val="152342"/>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2"/>
          <p:cNvSpPr txBox="1"/>
          <p:nvPr/>
        </p:nvSpPr>
        <p:spPr>
          <a:xfrm>
            <a:off x="671587" y="2369654"/>
            <a:ext cx="2514600" cy="40020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FFFFFF"/>
                </a:solidFill>
                <a:latin typeface="Quattrocento Sans"/>
                <a:ea typeface="Quattrocento Sans"/>
                <a:cs typeface="Quattrocento Sans"/>
                <a:sym typeface="Quattrocento Sans"/>
              </a:rPr>
              <a:t>📍 [02]  Problem Statement &amp; Motivation</a:t>
            </a:r>
            <a:endParaRPr/>
          </a:p>
        </p:txBody>
      </p:sp>
      <p:sp>
        <p:nvSpPr>
          <p:cNvPr id="109" name="Google Shape;109;p2"/>
          <p:cNvSpPr/>
          <p:nvPr/>
        </p:nvSpPr>
        <p:spPr>
          <a:xfrm>
            <a:off x="548640" y="3035808"/>
            <a:ext cx="2697480" cy="694944"/>
          </a:xfrm>
          <a:prstGeom prst="roundRect">
            <a:avLst>
              <a:gd fmla="val 16667" name="adj"/>
            </a:avLst>
          </a:prstGeom>
          <a:solidFill>
            <a:srgbClr val="152342"/>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2"/>
          <p:cNvSpPr txBox="1"/>
          <p:nvPr/>
        </p:nvSpPr>
        <p:spPr>
          <a:xfrm>
            <a:off x="640080" y="3145536"/>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FFFFFF"/>
                </a:solidFill>
                <a:latin typeface="Quattrocento Sans"/>
                <a:ea typeface="Quattrocento Sans"/>
                <a:cs typeface="Quattrocento Sans"/>
                <a:sym typeface="Quattrocento Sans"/>
              </a:rPr>
              <a:t>📍 [03]  Research Objectives &amp; Scope</a:t>
            </a:r>
            <a:endParaRPr/>
          </a:p>
        </p:txBody>
      </p:sp>
      <p:sp>
        <p:nvSpPr>
          <p:cNvPr id="111" name="Google Shape;111;p2"/>
          <p:cNvSpPr/>
          <p:nvPr/>
        </p:nvSpPr>
        <p:spPr>
          <a:xfrm>
            <a:off x="548640" y="3822192"/>
            <a:ext cx="2697480" cy="694944"/>
          </a:xfrm>
          <a:prstGeom prst="roundRect">
            <a:avLst>
              <a:gd fmla="val 16667" name="adj"/>
            </a:avLst>
          </a:prstGeom>
          <a:solidFill>
            <a:srgbClr val="152342"/>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2"/>
          <p:cNvSpPr txBox="1"/>
          <p:nvPr/>
        </p:nvSpPr>
        <p:spPr>
          <a:xfrm>
            <a:off x="640080" y="3931920"/>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FFFFFF"/>
                </a:solidFill>
                <a:latin typeface="Quattrocento Sans"/>
                <a:ea typeface="Quattrocento Sans"/>
                <a:cs typeface="Quattrocento Sans"/>
                <a:sym typeface="Quattrocento Sans"/>
              </a:rPr>
              <a:t>📍 [04]  Overall System Architecture</a:t>
            </a:r>
            <a:endParaRPr/>
          </a:p>
        </p:txBody>
      </p:sp>
      <p:sp>
        <p:nvSpPr>
          <p:cNvPr id="113" name="Google Shape;113;p2"/>
          <p:cNvSpPr/>
          <p:nvPr/>
        </p:nvSpPr>
        <p:spPr>
          <a:xfrm>
            <a:off x="548640" y="4608576"/>
            <a:ext cx="2697480" cy="694944"/>
          </a:xfrm>
          <a:prstGeom prst="roundRect">
            <a:avLst>
              <a:gd fmla="val 16667" name="adj"/>
            </a:avLst>
          </a:prstGeom>
          <a:solidFill>
            <a:srgbClr val="152342"/>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2"/>
          <p:cNvSpPr txBox="1"/>
          <p:nvPr/>
        </p:nvSpPr>
        <p:spPr>
          <a:xfrm>
            <a:off x="640080" y="4718304"/>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FFFFFF"/>
                </a:solidFill>
                <a:latin typeface="Quattrocento Sans"/>
                <a:ea typeface="Quattrocento Sans"/>
                <a:cs typeface="Quattrocento Sans"/>
                <a:sym typeface="Quattrocento Sans"/>
              </a:rPr>
              <a:t>📍 [05]  Technology Stack Ecosystem</a:t>
            </a:r>
            <a:endParaRPr/>
          </a:p>
        </p:txBody>
      </p:sp>
      <p:sp>
        <p:nvSpPr>
          <p:cNvPr id="115" name="Google Shape;115;p2"/>
          <p:cNvSpPr/>
          <p:nvPr/>
        </p:nvSpPr>
        <p:spPr>
          <a:xfrm>
            <a:off x="548640" y="5394960"/>
            <a:ext cx="2697480" cy="694944"/>
          </a:xfrm>
          <a:prstGeom prst="roundRect">
            <a:avLst>
              <a:gd fmla="val 16667" name="adj"/>
            </a:avLst>
          </a:prstGeom>
          <a:solidFill>
            <a:srgbClr val="152342"/>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2"/>
          <p:cNvSpPr txBox="1"/>
          <p:nvPr/>
        </p:nvSpPr>
        <p:spPr>
          <a:xfrm>
            <a:off x="640080" y="5504688"/>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FFFFFF"/>
                </a:solidFill>
                <a:latin typeface="Quattrocento Sans"/>
                <a:ea typeface="Quattrocento Sans"/>
                <a:cs typeface="Quattrocento Sans"/>
                <a:sym typeface="Quattrocento Sans"/>
              </a:rPr>
              <a:t>📍 [06]  Backend Engine Architecture</a:t>
            </a:r>
            <a:endParaRPr/>
          </a:p>
        </p:txBody>
      </p:sp>
      <p:sp>
        <p:nvSpPr>
          <p:cNvPr id="117" name="Google Shape;117;p2"/>
          <p:cNvSpPr/>
          <p:nvPr/>
        </p:nvSpPr>
        <p:spPr>
          <a:xfrm>
            <a:off x="3383280" y="1463040"/>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2"/>
          <p:cNvSpPr txBox="1"/>
          <p:nvPr/>
        </p:nvSpPr>
        <p:spPr>
          <a:xfrm>
            <a:off x="3474720" y="1572768"/>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[07]  Frontend &amp; Three.js Framework</a:t>
            </a:r>
            <a:endParaRPr/>
          </a:p>
        </p:txBody>
      </p:sp>
      <p:sp>
        <p:nvSpPr>
          <p:cNvPr id="119" name="Google Shape;119;p2"/>
          <p:cNvSpPr/>
          <p:nvPr/>
        </p:nvSpPr>
        <p:spPr>
          <a:xfrm>
            <a:off x="3383280" y="2249424"/>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2"/>
          <p:cNvSpPr txBox="1"/>
          <p:nvPr/>
        </p:nvSpPr>
        <p:spPr>
          <a:xfrm>
            <a:off x="3474720" y="2359152"/>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[08]  Live Data Streaming Pipeline</a:t>
            </a:r>
            <a:endParaRPr/>
          </a:p>
        </p:txBody>
      </p:sp>
      <p:sp>
        <p:nvSpPr>
          <p:cNvPr id="121" name="Google Shape;121;p2"/>
          <p:cNvSpPr/>
          <p:nvPr/>
        </p:nvSpPr>
        <p:spPr>
          <a:xfrm>
            <a:off x="3383280" y="3035808"/>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2"/>
          <p:cNvSpPr txBox="1"/>
          <p:nvPr/>
        </p:nvSpPr>
        <p:spPr>
          <a:xfrm>
            <a:off x="3474720" y="3145536"/>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[09]  Distance Estimation &amp; Path Loss Math</a:t>
            </a:r>
            <a:endParaRPr/>
          </a:p>
        </p:txBody>
      </p:sp>
      <p:sp>
        <p:nvSpPr>
          <p:cNvPr id="123" name="Google Shape;123;p2"/>
          <p:cNvSpPr/>
          <p:nvPr/>
        </p:nvSpPr>
        <p:spPr>
          <a:xfrm>
            <a:off x="3383280" y="3822192"/>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2"/>
          <p:cNvSpPr txBox="1"/>
          <p:nvPr/>
        </p:nvSpPr>
        <p:spPr>
          <a:xfrm>
            <a:off x="3474720" y="3931920"/>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[10]  3D Digital Twin Representation</a:t>
            </a:r>
            <a:endParaRPr/>
          </a:p>
        </p:txBody>
      </p:sp>
      <p:sp>
        <p:nvSpPr>
          <p:cNvPr id="125" name="Google Shape;125;p2"/>
          <p:cNvSpPr/>
          <p:nvPr/>
        </p:nvSpPr>
        <p:spPr>
          <a:xfrm>
            <a:off x="3383280" y="4608576"/>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2"/>
          <p:cNvSpPr txBox="1"/>
          <p:nvPr/>
        </p:nvSpPr>
        <p:spPr>
          <a:xfrm>
            <a:off x="3474720" y="4718304"/>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[11]  Automatic Human Detection Logic</a:t>
            </a:r>
            <a:endParaRPr/>
          </a:p>
        </p:txBody>
      </p:sp>
      <p:sp>
        <p:nvSpPr>
          <p:cNvPr id="127" name="Google Shape;127;p2"/>
          <p:cNvSpPr/>
          <p:nvPr/>
        </p:nvSpPr>
        <p:spPr>
          <a:xfrm>
            <a:off x="3383280" y="5394960"/>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2"/>
          <p:cNvSpPr txBox="1"/>
          <p:nvPr/>
        </p:nvSpPr>
        <p:spPr>
          <a:xfrm>
            <a:off x="3474720" y="5504688"/>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[12]  Dashboard Overview</a:t>
            </a:r>
            <a:endParaRPr/>
          </a:p>
        </p:txBody>
      </p:sp>
      <p:sp>
        <p:nvSpPr>
          <p:cNvPr id="129" name="Google Shape;129;p2"/>
          <p:cNvSpPr/>
          <p:nvPr/>
        </p:nvSpPr>
        <p:spPr>
          <a:xfrm>
            <a:off x="6217920" y="1463040"/>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2"/>
          <p:cNvSpPr txBox="1"/>
          <p:nvPr/>
        </p:nvSpPr>
        <p:spPr>
          <a:xfrm>
            <a:off x="6309360" y="1572768"/>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[13]  Network Topology Visualization</a:t>
            </a:r>
            <a:endParaRPr/>
          </a:p>
        </p:txBody>
      </p:sp>
      <p:sp>
        <p:nvSpPr>
          <p:cNvPr id="131" name="Google Shape;131;p2"/>
          <p:cNvSpPr/>
          <p:nvPr/>
        </p:nvSpPr>
        <p:spPr>
          <a:xfrm>
            <a:off x="6217920" y="2249424"/>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2"/>
          <p:cNvSpPr txBox="1"/>
          <p:nvPr/>
        </p:nvSpPr>
        <p:spPr>
          <a:xfrm>
            <a:off x="6309360" y="2359152"/>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[14]  3D Laboratory Interactive View</a:t>
            </a:r>
            <a:endParaRPr/>
          </a:p>
        </p:txBody>
      </p:sp>
      <p:sp>
        <p:nvSpPr>
          <p:cNvPr id="133" name="Google Shape;133;p2"/>
          <p:cNvSpPr/>
          <p:nvPr/>
        </p:nvSpPr>
        <p:spPr>
          <a:xfrm>
            <a:off x="6217920" y="3035808"/>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2"/>
          <p:cNvSpPr txBox="1"/>
          <p:nvPr/>
        </p:nvSpPr>
        <p:spPr>
          <a:xfrm>
            <a:off x="6309360" y="3145536"/>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[15]  Real-time Client Telemetry Panel</a:t>
            </a:r>
            <a:endParaRPr/>
          </a:p>
        </p:txBody>
      </p:sp>
      <p:sp>
        <p:nvSpPr>
          <p:cNvPr id="135" name="Google Shape;135;p2"/>
          <p:cNvSpPr/>
          <p:nvPr/>
        </p:nvSpPr>
        <p:spPr>
          <a:xfrm>
            <a:off x="6217920" y="3822192"/>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2"/>
          <p:cNvSpPr txBox="1"/>
          <p:nvPr/>
        </p:nvSpPr>
        <p:spPr>
          <a:xfrm>
            <a:off x="6309360" y="3931920"/>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[16]  Real-Time Synchronization Features</a:t>
            </a:r>
            <a:endParaRPr/>
          </a:p>
        </p:txBody>
      </p:sp>
      <p:sp>
        <p:nvSpPr>
          <p:cNvPr id="137" name="Google Shape;137;p2"/>
          <p:cNvSpPr/>
          <p:nvPr/>
        </p:nvSpPr>
        <p:spPr>
          <a:xfrm>
            <a:off x="6217920" y="4608576"/>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2"/>
          <p:cNvSpPr txBox="1"/>
          <p:nvPr/>
        </p:nvSpPr>
        <p:spPr>
          <a:xfrm>
            <a:off x="6309360" y="4718304"/>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[17]  Key Architectural Capabilities</a:t>
            </a:r>
            <a:endParaRPr/>
          </a:p>
        </p:txBody>
      </p:sp>
      <p:sp>
        <p:nvSpPr>
          <p:cNvPr id="139" name="Google Shape;139;p2"/>
          <p:cNvSpPr/>
          <p:nvPr/>
        </p:nvSpPr>
        <p:spPr>
          <a:xfrm>
            <a:off x="6217920" y="5394960"/>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2"/>
          <p:cNvSpPr txBox="1"/>
          <p:nvPr/>
        </p:nvSpPr>
        <p:spPr>
          <a:xfrm>
            <a:off x="6309360" y="5504688"/>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[18]  Research &amp; Academic Contributions</a:t>
            </a:r>
            <a:endParaRPr/>
          </a:p>
        </p:txBody>
      </p:sp>
      <p:sp>
        <p:nvSpPr>
          <p:cNvPr id="141" name="Google Shape;141;p2"/>
          <p:cNvSpPr/>
          <p:nvPr/>
        </p:nvSpPr>
        <p:spPr>
          <a:xfrm>
            <a:off x="9052560" y="1463040"/>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2"/>
          <p:cNvSpPr txBox="1"/>
          <p:nvPr/>
        </p:nvSpPr>
        <p:spPr>
          <a:xfrm>
            <a:off x="9144000" y="1572768"/>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[19]  Current Technical Limitations</a:t>
            </a:r>
            <a:endParaRPr/>
          </a:p>
        </p:txBody>
      </p:sp>
      <p:sp>
        <p:nvSpPr>
          <p:cNvPr id="143" name="Google Shape;143;p2"/>
          <p:cNvSpPr/>
          <p:nvPr/>
        </p:nvSpPr>
        <p:spPr>
          <a:xfrm>
            <a:off x="9052560" y="2249424"/>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2"/>
          <p:cNvSpPr txBox="1"/>
          <p:nvPr/>
        </p:nvSpPr>
        <p:spPr>
          <a:xfrm>
            <a:off x="9144000" y="2359152"/>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[20]  Future Sensor Scope (CSI, mmWave)</a:t>
            </a:r>
            <a:endParaRPr/>
          </a:p>
        </p:txBody>
      </p:sp>
      <p:sp>
        <p:nvSpPr>
          <p:cNvPr id="145" name="Google Shape;145;p2"/>
          <p:cNvSpPr/>
          <p:nvPr/>
        </p:nvSpPr>
        <p:spPr>
          <a:xfrm>
            <a:off x="9052560" y="3035808"/>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2"/>
          <p:cNvSpPr txBox="1"/>
          <p:nvPr/>
        </p:nvSpPr>
        <p:spPr>
          <a:xfrm>
            <a:off x="9144000" y="3145536"/>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[21]  Demo Screens Showcase</a:t>
            </a:r>
            <a:endParaRPr/>
          </a:p>
        </p:txBody>
      </p:sp>
      <p:sp>
        <p:nvSpPr>
          <p:cNvPr id="147" name="Google Shape;147;p2"/>
          <p:cNvSpPr/>
          <p:nvPr/>
        </p:nvSpPr>
        <p:spPr>
          <a:xfrm>
            <a:off x="9052560" y="3822192"/>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2"/>
          <p:cNvSpPr txBox="1"/>
          <p:nvPr/>
        </p:nvSpPr>
        <p:spPr>
          <a:xfrm>
            <a:off x="9144000" y="3931920"/>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[22]  Unified Project Pipeline Summary</a:t>
            </a:r>
            <a:endParaRPr/>
          </a:p>
        </p:txBody>
      </p:sp>
      <p:sp>
        <p:nvSpPr>
          <p:cNvPr id="149" name="Google Shape;149;p2"/>
          <p:cNvSpPr/>
          <p:nvPr/>
        </p:nvSpPr>
        <p:spPr>
          <a:xfrm>
            <a:off x="9052560" y="4608576"/>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2"/>
          <p:cNvSpPr txBox="1"/>
          <p:nvPr/>
        </p:nvSpPr>
        <p:spPr>
          <a:xfrm>
            <a:off x="9144000" y="4718304"/>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[23]  Conclusion &amp; Thesis Achievements</a:t>
            </a:r>
            <a:endParaRPr/>
          </a:p>
        </p:txBody>
      </p:sp>
      <p:sp>
        <p:nvSpPr>
          <p:cNvPr id="151" name="Google Shape;151;p2"/>
          <p:cNvSpPr/>
          <p:nvPr/>
        </p:nvSpPr>
        <p:spPr>
          <a:xfrm>
            <a:off x="9052560" y="5394960"/>
            <a:ext cx="2697480" cy="694944"/>
          </a:xfrm>
          <a:prstGeom prst="roundRect">
            <a:avLst>
              <a:gd fmla="val 16667" name="adj"/>
            </a:avLst>
          </a:prstGeom>
          <a:solidFill>
            <a:srgbClr val="152342"/>
          </a:solidFill>
          <a:ln cap="flat" cmpd="sng" w="12700">
            <a:solidFill>
              <a:srgbClr val="1D305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2"/>
          <p:cNvSpPr txBox="1"/>
          <p:nvPr/>
        </p:nvSpPr>
        <p:spPr>
          <a:xfrm>
            <a:off x="9144000" y="5504688"/>
            <a:ext cx="2514600" cy="50292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50">
                <a:solidFill>
                  <a:srgbClr val="DCE6F2"/>
                </a:solidFill>
                <a:latin typeface="Quattrocento Sans"/>
                <a:ea typeface="Quattrocento Sans"/>
                <a:cs typeface="Quattrocento Sans"/>
                <a:sym typeface="Quattrocento Sans"/>
              </a:rPr>
              <a:t>📍 [24]  Open Q&amp;A and Academic Critique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3"/>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02. DOMAIN INTEL &amp; BACKGROUND</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Introduction to Real-Time Wi-Fi Digital Twins</a:t>
            </a:r>
            <a:endParaRPr/>
          </a:p>
        </p:txBody>
      </p:sp>
      <p:sp>
        <p:nvSpPr>
          <p:cNvPr id="160" name="Google Shape;160;p3"/>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3"/>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3"/>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163" name="Google Shape;163;p3"/>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3 / 25</a:t>
            </a:r>
            <a:endParaRPr/>
          </a:p>
        </p:txBody>
      </p:sp>
      <p:sp>
        <p:nvSpPr>
          <p:cNvPr id="164" name="Google Shape;164;p3"/>
          <p:cNvSpPr/>
          <p:nvPr/>
        </p:nvSpPr>
        <p:spPr>
          <a:xfrm>
            <a:off x="548640" y="1463040"/>
            <a:ext cx="3474720" cy="466344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3"/>
          <p:cNvSpPr txBox="1"/>
          <p:nvPr/>
        </p:nvSpPr>
        <p:spPr>
          <a:xfrm>
            <a:off x="731520" y="1645920"/>
            <a:ext cx="310896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Quattrocento Sans"/>
                <a:ea typeface="Quattrocento Sans"/>
                <a:cs typeface="Quattrocento Sans"/>
                <a:sym typeface="Quattrocento Sans"/>
              </a:rPr>
              <a:t>🏢 Indoor Human Monitoring</a:t>
            </a:r>
            <a:endParaRPr/>
          </a:p>
          <a:p>
            <a:pPr indent="0" lvl="0" marL="0" marR="0" rtl="0" algn="l">
              <a:spcBef>
                <a:spcPts val="1800"/>
              </a:spcBef>
              <a:spcAft>
                <a:spcPts val="0"/>
              </a:spcAft>
              <a:buNone/>
            </a:pPr>
            <a:r>
              <a:rPr b="1" lang="en-US" sz="1300">
                <a:solidFill>
                  <a:srgbClr val="38DAEC"/>
                </a:solidFill>
                <a:latin typeface="Quattrocento Sans"/>
                <a:ea typeface="Quattrocento Sans"/>
                <a:cs typeface="Quattrocento Sans"/>
                <a:sym typeface="Quattrocento Sans"/>
              </a:rPr>
              <a:t>•  Context &amp; Relevance: </a:t>
            </a:r>
            <a:r>
              <a:rPr lang="en-US" sz="1300">
                <a:solidFill>
                  <a:srgbClr val="DCE6F2"/>
                </a:solidFill>
                <a:latin typeface="Quattrocento Sans"/>
                <a:ea typeface="Quattrocento Sans"/>
                <a:cs typeface="Quattrocento Sans"/>
                <a:sym typeface="Quattrocento Sans"/>
              </a:rPr>
              <a:t>Continuous indoor presence and motion awareness is essential for healthcare, security, and smart building IoT automation.</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The Digital Twin Paradigm: </a:t>
            </a:r>
            <a:r>
              <a:rPr lang="en-US" sz="1300">
                <a:solidFill>
                  <a:srgbClr val="DCE6F2"/>
                </a:solidFill>
                <a:latin typeface="Quattrocento Sans"/>
                <a:ea typeface="Quattrocento Sans"/>
                <a:cs typeface="Quattrocento Sans"/>
                <a:sym typeface="Quattrocento Sans"/>
              </a:rPr>
              <a:t>Creates a live, synchronized 3D virtual replica of physical spaces, bridging real-world RF telemetry with visual graphics.</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Wi-Fi Sensing &amp; Localization: </a:t>
            </a:r>
            <a:r>
              <a:rPr lang="en-US" sz="1300">
                <a:solidFill>
                  <a:srgbClr val="DCE6F2"/>
                </a:solidFill>
                <a:latin typeface="Quattrocento Sans"/>
                <a:ea typeface="Quattrocento Sans"/>
                <a:cs typeface="Quattrocento Sans"/>
                <a:sym typeface="Quattrocento Sans"/>
              </a:rPr>
              <a:t>Utilizes wireless attenuation fluctuations (RSSI) to detect and track human mobility without requiring worn sensors or tags.</a:t>
            </a:r>
            <a:endParaRPr/>
          </a:p>
        </p:txBody>
      </p:sp>
      <p:sp>
        <p:nvSpPr>
          <p:cNvPr id="166" name="Google Shape;166;p3"/>
          <p:cNvSpPr/>
          <p:nvPr/>
        </p:nvSpPr>
        <p:spPr>
          <a:xfrm>
            <a:off x="4297680" y="1463040"/>
            <a:ext cx="3474720" cy="466344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3"/>
          <p:cNvSpPr txBox="1"/>
          <p:nvPr/>
        </p:nvSpPr>
        <p:spPr>
          <a:xfrm>
            <a:off x="4480560" y="1645920"/>
            <a:ext cx="310896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Quattrocento Sans"/>
                <a:ea typeface="Quattrocento Sans"/>
                <a:cs typeface="Quattrocento Sans"/>
                <a:sym typeface="Quattrocento Sans"/>
              </a:rPr>
              <a:t>📡 Why Wi-Fi Over Cameras?</a:t>
            </a:r>
            <a:endParaRPr/>
          </a:p>
          <a:p>
            <a:pPr indent="0" lvl="0" marL="0" marR="0" rtl="0" algn="l">
              <a:spcBef>
                <a:spcPts val="1800"/>
              </a:spcBef>
              <a:spcAft>
                <a:spcPts val="0"/>
              </a:spcAft>
              <a:buNone/>
            </a:pPr>
            <a:r>
              <a:rPr b="1" lang="en-US" sz="1300">
                <a:solidFill>
                  <a:srgbClr val="38DAEC"/>
                </a:solidFill>
                <a:latin typeface="Quattrocento Sans"/>
                <a:ea typeface="Quattrocento Sans"/>
                <a:cs typeface="Quattrocento Sans"/>
                <a:sym typeface="Quattrocento Sans"/>
              </a:rPr>
              <a:t>•  Zero Optical Intrusion: </a:t>
            </a:r>
            <a:r>
              <a:rPr lang="en-US" sz="1300">
                <a:solidFill>
                  <a:srgbClr val="DCE6F2"/>
                </a:solidFill>
                <a:latin typeface="Quattrocento Sans"/>
                <a:ea typeface="Quattrocento Sans"/>
                <a:cs typeface="Quattrocento Sans"/>
                <a:sym typeface="Quattrocento Sans"/>
              </a:rPr>
              <a:t>Eliminates visual surveillance entirely, ensuring psychological discomfort and ethical constraints are eradicated.</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No Line-of-Sight Dependency: </a:t>
            </a:r>
            <a:r>
              <a:rPr lang="en-US" sz="1300">
                <a:solidFill>
                  <a:srgbClr val="DCE6F2"/>
                </a:solidFill>
                <a:latin typeface="Quattrocento Sans"/>
                <a:ea typeface="Quattrocento Sans"/>
                <a:cs typeface="Quattrocento Sans"/>
                <a:sym typeface="Quattrocento Sans"/>
              </a:rPr>
              <a:t>Radio frequency waves penetrate interior walls, partitions, and wooden furniture where optical camera lenses face blind spots.</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Zero-Client Requirement: </a:t>
            </a:r>
            <a:r>
              <a:rPr lang="en-US" sz="1300">
                <a:solidFill>
                  <a:srgbClr val="DCE6F2"/>
                </a:solidFill>
                <a:latin typeface="Quattrocento Sans"/>
                <a:ea typeface="Quattrocento Sans"/>
                <a:cs typeface="Quattrocento Sans"/>
                <a:sym typeface="Quattrocento Sans"/>
              </a:rPr>
              <a:t>Users simply carry standard Wi-Fi enabled smartphones or laptops without installing custom tracking software.</a:t>
            </a:r>
            <a:endParaRPr/>
          </a:p>
        </p:txBody>
      </p:sp>
      <p:sp>
        <p:nvSpPr>
          <p:cNvPr id="168" name="Google Shape;168;p3"/>
          <p:cNvSpPr/>
          <p:nvPr/>
        </p:nvSpPr>
        <p:spPr>
          <a:xfrm>
            <a:off x="8046720" y="1463040"/>
            <a:ext cx="3566160" cy="466344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3"/>
          <p:cNvSpPr txBox="1"/>
          <p:nvPr/>
        </p:nvSpPr>
        <p:spPr>
          <a:xfrm>
            <a:off x="8229600" y="1645920"/>
            <a:ext cx="320040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Quattrocento Sans"/>
                <a:ea typeface="Quattrocento Sans"/>
                <a:cs typeface="Quattrocento Sans"/>
                <a:sym typeface="Quattrocento Sans"/>
              </a:rPr>
              <a:t>💎 Core Enterprise Benefits</a:t>
            </a:r>
            <a:endParaRPr/>
          </a:p>
          <a:p>
            <a:pPr indent="0" lvl="0" marL="0" marR="0" rtl="0" algn="l">
              <a:spcBef>
                <a:spcPts val="1800"/>
              </a:spcBef>
              <a:spcAft>
                <a:spcPts val="0"/>
              </a:spcAft>
              <a:buNone/>
            </a:pPr>
            <a:r>
              <a:rPr b="1" lang="en-US" sz="1300">
                <a:solidFill>
                  <a:srgbClr val="38DAEC"/>
                </a:solidFill>
                <a:latin typeface="Quattrocento Sans"/>
                <a:ea typeface="Quattrocento Sans"/>
                <a:cs typeface="Quattrocento Sans"/>
                <a:sym typeface="Quattrocento Sans"/>
              </a:rPr>
              <a:t>•  🛡️ Total Privacy Preservation: </a:t>
            </a:r>
            <a:r>
              <a:rPr lang="en-US" sz="1300">
                <a:solidFill>
                  <a:srgbClr val="DCE6F2"/>
                </a:solidFill>
                <a:latin typeface="Quattrocento Sans"/>
                <a:ea typeface="Quattrocento Sans"/>
                <a:cs typeface="Quattrocento Sans"/>
                <a:sym typeface="Quattrocento Sans"/>
              </a:rPr>
              <a:t>100% compliant with privacy regulations; ideal for hospitals, personal living quarters, and restricted R&amp;D labs.</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 Ultra-Low Cost Footprint: </a:t>
            </a:r>
            <a:r>
              <a:rPr lang="en-US" sz="1300">
                <a:solidFill>
                  <a:srgbClr val="DCE6F2"/>
                </a:solidFill>
                <a:latin typeface="Quattrocento Sans"/>
                <a:ea typeface="Quattrocento Sans"/>
                <a:cs typeface="Quattrocento Sans"/>
                <a:sym typeface="Quattrocento Sans"/>
              </a:rPr>
              <a:t>Replaces thousands of dollars in video streaming infrastructure with simple $30-$50 commercial off-the-shelf routers.</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 Existing Infrastructure: </a:t>
            </a:r>
            <a:r>
              <a:rPr lang="en-US" sz="1300">
                <a:solidFill>
                  <a:srgbClr val="DCE6F2"/>
                </a:solidFill>
                <a:latin typeface="Quattrocento Sans"/>
                <a:ea typeface="Quattrocento Sans"/>
                <a:cs typeface="Quattrocento Sans"/>
                <a:sym typeface="Quattrocento Sans"/>
              </a:rPr>
              <a:t>Zero wiring or physical renovations required—directly utilizes existing enterprise campus wireless networks.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4"/>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4"/>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03. RESEARCH MOTIVATION</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Problem Statement: The Indoor Tracking Dilemma</a:t>
            </a:r>
            <a:endParaRPr/>
          </a:p>
        </p:txBody>
      </p:sp>
      <p:sp>
        <p:nvSpPr>
          <p:cNvPr id="177" name="Google Shape;177;p4"/>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4"/>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4"/>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180" name="Google Shape;180;p4"/>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4 / 25</a:t>
            </a:r>
            <a:endParaRPr/>
          </a:p>
        </p:txBody>
      </p:sp>
      <p:sp>
        <p:nvSpPr>
          <p:cNvPr id="181" name="Google Shape;181;p4"/>
          <p:cNvSpPr/>
          <p:nvPr/>
        </p:nvSpPr>
        <p:spPr>
          <a:xfrm>
            <a:off x="548640" y="1463040"/>
            <a:ext cx="5303520" cy="2240280"/>
          </a:xfrm>
          <a:prstGeom prst="roundRect">
            <a:avLst>
              <a:gd fmla="val 16667" name="adj"/>
            </a:avLst>
          </a:prstGeom>
          <a:solidFill>
            <a:srgbClr val="152342"/>
          </a:solidFill>
          <a:ln cap="flat" cmpd="sng" w="19050">
            <a:solidFill>
              <a:srgbClr val="FF5F6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4"/>
          <p:cNvSpPr txBox="1"/>
          <p:nvPr/>
        </p:nvSpPr>
        <p:spPr>
          <a:xfrm>
            <a:off x="731520" y="1645920"/>
            <a:ext cx="493776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Camera &amp; Vision-Based Dependency</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Optical Blind Spots &amp; Occlusions: </a:t>
            </a:r>
            <a:r>
              <a:rPr lang="en-US" sz="1300">
                <a:solidFill>
                  <a:srgbClr val="DCE6F2"/>
                </a:solidFill>
                <a:latin typeface="Quattrocento Sans"/>
                <a:ea typeface="Quattrocento Sans"/>
                <a:cs typeface="Quattrocento Sans"/>
                <a:sym typeface="Quattrocento Sans"/>
              </a:rPr>
              <a:t>Physical barriers, partitions, and dynamic lighting variations sever tracking reliability.</a:t>
            </a:r>
            <a:endParaRPr/>
          </a:p>
          <a:p>
            <a:pPr indent="0" lvl="0" marL="0" marR="0" rtl="0" algn="l">
              <a:spcBef>
                <a:spcPts val="1000"/>
              </a:spcBef>
              <a:spcAft>
                <a:spcPts val="0"/>
              </a:spcAft>
              <a:buNone/>
            </a:pPr>
            <a:r>
              <a:rPr b="1" lang="en-US" sz="1300">
                <a:solidFill>
                  <a:srgbClr val="38DAEC"/>
                </a:solidFill>
                <a:latin typeface="Quattrocento Sans"/>
                <a:ea typeface="Quattrocento Sans"/>
                <a:cs typeface="Quattrocento Sans"/>
                <a:sym typeface="Quattrocento Sans"/>
              </a:rPr>
              <a:t>•  High Computation Overheads: </a:t>
            </a:r>
            <a:r>
              <a:rPr lang="en-US" sz="1300">
                <a:solidFill>
                  <a:srgbClr val="DCE6F2"/>
                </a:solidFill>
                <a:latin typeface="Quattrocento Sans"/>
                <a:ea typeface="Quattrocento Sans"/>
                <a:cs typeface="Quattrocento Sans"/>
                <a:sym typeface="Quattrocento Sans"/>
              </a:rPr>
              <a:t>Video feeds demand massive GPU video decoding pipelines and costly high-bandwidth localized networking.</a:t>
            </a:r>
            <a:endParaRPr/>
          </a:p>
        </p:txBody>
      </p:sp>
      <p:sp>
        <p:nvSpPr>
          <p:cNvPr id="183" name="Google Shape;183;p4"/>
          <p:cNvSpPr/>
          <p:nvPr/>
        </p:nvSpPr>
        <p:spPr>
          <a:xfrm>
            <a:off x="6217920" y="1463040"/>
            <a:ext cx="5394960" cy="2240280"/>
          </a:xfrm>
          <a:prstGeom prst="roundRect">
            <a:avLst>
              <a:gd fmla="val 16667" name="adj"/>
            </a:avLst>
          </a:prstGeom>
          <a:solidFill>
            <a:srgbClr val="152342"/>
          </a:solidFill>
          <a:ln cap="flat" cmpd="sng" w="19050">
            <a:solidFill>
              <a:srgbClr val="FF5F6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4"/>
          <p:cNvSpPr txBox="1"/>
          <p:nvPr/>
        </p:nvSpPr>
        <p:spPr>
          <a:xfrm>
            <a:off x="6400800" y="1645920"/>
            <a:ext cx="502920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Severe Privacy &amp; Ethical Concerns</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Invasive Facial Recognition: </a:t>
            </a:r>
            <a:r>
              <a:rPr lang="en-US" sz="1300">
                <a:solidFill>
                  <a:srgbClr val="DCE6F2"/>
                </a:solidFill>
                <a:latin typeface="Quattrocento Sans"/>
                <a:ea typeface="Quattrocento Sans"/>
                <a:cs typeface="Quattrocento Sans"/>
                <a:sym typeface="Quattrocento Sans"/>
              </a:rPr>
              <a:t>Optical surveillance captures identifiable personal features, generating user resistance and regulatory compliance roadblocks.</a:t>
            </a:r>
            <a:endParaRPr/>
          </a:p>
          <a:p>
            <a:pPr indent="0" lvl="0" marL="0" marR="0" rtl="0" algn="l">
              <a:spcBef>
                <a:spcPts val="1000"/>
              </a:spcBef>
              <a:spcAft>
                <a:spcPts val="0"/>
              </a:spcAft>
              <a:buNone/>
            </a:pPr>
            <a:r>
              <a:rPr b="1" lang="en-US" sz="1300">
                <a:solidFill>
                  <a:srgbClr val="38DAEC"/>
                </a:solidFill>
                <a:latin typeface="Quattrocento Sans"/>
                <a:ea typeface="Quattrocento Sans"/>
                <a:cs typeface="Quattrocento Sans"/>
                <a:sym typeface="Quattrocento Sans"/>
              </a:rPr>
              <a:t>•  Restricted Deployment Zones: </a:t>
            </a:r>
            <a:r>
              <a:rPr lang="en-US" sz="1300">
                <a:solidFill>
                  <a:srgbClr val="DCE6F2"/>
                </a:solidFill>
                <a:latin typeface="Quattrocento Sans"/>
                <a:ea typeface="Quattrocento Sans"/>
                <a:cs typeface="Quattrocento Sans"/>
                <a:sym typeface="Quattrocento Sans"/>
              </a:rPr>
              <a:t>Cameras cannot be deployed in bathrooms, patient hospital recovery suites, or highly secure proprietary clean-rooms.</a:t>
            </a:r>
            <a:endParaRPr/>
          </a:p>
        </p:txBody>
      </p:sp>
      <p:sp>
        <p:nvSpPr>
          <p:cNvPr id="185" name="Google Shape;185;p4"/>
          <p:cNvSpPr/>
          <p:nvPr/>
        </p:nvSpPr>
        <p:spPr>
          <a:xfrm>
            <a:off x="548640" y="3977639"/>
            <a:ext cx="5303520" cy="2240280"/>
          </a:xfrm>
          <a:prstGeom prst="roundRect">
            <a:avLst>
              <a:gd fmla="val 16667" name="adj"/>
            </a:avLst>
          </a:prstGeom>
          <a:solidFill>
            <a:srgbClr val="152342"/>
          </a:solidFill>
          <a:ln cap="flat" cmpd="sng" w="19050">
            <a:solidFill>
              <a:srgbClr val="FF5F6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4"/>
          <p:cNvSpPr txBox="1"/>
          <p:nvPr/>
        </p:nvSpPr>
        <p:spPr>
          <a:xfrm>
            <a:off x="731520" y="4160519"/>
            <a:ext cx="493776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Prohibitive Deployment &amp; Hardware Costs</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High Capital Expenditure (CapEx): </a:t>
            </a:r>
            <a:r>
              <a:rPr lang="en-US" sz="1300">
                <a:solidFill>
                  <a:srgbClr val="DCE6F2"/>
                </a:solidFill>
                <a:latin typeface="Quattrocento Sans"/>
                <a:ea typeface="Quattrocento Sans"/>
                <a:cs typeface="Quattrocento Sans"/>
                <a:sym typeface="Quattrocento Sans"/>
              </a:rPr>
              <a:t>Dedicated UWB antenna arrays, optical cameras, and infrared LiDAR systems cost thousands per room.</a:t>
            </a:r>
            <a:endParaRPr/>
          </a:p>
          <a:p>
            <a:pPr indent="0" lvl="0" marL="0" marR="0" rtl="0" algn="l">
              <a:spcBef>
                <a:spcPts val="1000"/>
              </a:spcBef>
              <a:spcAft>
                <a:spcPts val="0"/>
              </a:spcAft>
              <a:buNone/>
            </a:pPr>
            <a:r>
              <a:rPr b="1" lang="en-US" sz="1300">
                <a:solidFill>
                  <a:srgbClr val="38DAEC"/>
                </a:solidFill>
                <a:latin typeface="Quattrocento Sans"/>
                <a:ea typeface="Quattrocento Sans"/>
                <a:cs typeface="Quattrocento Sans"/>
                <a:sym typeface="Quattrocento Sans"/>
              </a:rPr>
              <a:t>•  Intensive Installation Footprint: </a:t>
            </a:r>
            <a:r>
              <a:rPr lang="en-US" sz="1300">
                <a:solidFill>
                  <a:srgbClr val="DCE6F2"/>
                </a:solidFill>
                <a:latin typeface="Quattrocento Sans"/>
                <a:ea typeface="Quattrocento Sans"/>
                <a:cs typeface="Quattrocento Sans"/>
                <a:sym typeface="Quattrocento Sans"/>
              </a:rPr>
              <a:t>Requires intrusive wall drilling, structured cabling, and dedicated maintenance technicians.</a:t>
            </a:r>
            <a:endParaRPr/>
          </a:p>
        </p:txBody>
      </p:sp>
      <p:sp>
        <p:nvSpPr>
          <p:cNvPr id="187" name="Google Shape;187;p4"/>
          <p:cNvSpPr/>
          <p:nvPr/>
        </p:nvSpPr>
        <p:spPr>
          <a:xfrm>
            <a:off x="6217920" y="3977639"/>
            <a:ext cx="5394960" cy="2240280"/>
          </a:xfrm>
          <a:prstGeom prst="roundRect">
            <a:avLst>
              <a:gd fmla="val 16667" name="adj"/>
            </a:avLst>
          </a:prstGeom>
          <a:solidFill>
            <a:srgbClr val="1D3058"/>
          </a:solidFill>
          <a:ln cap="flat" cmpd="sng" w="19050">
            <a:solidFill>
              <a:srgbClr val="00EBA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4"/>
          <p:cNvSpPr txBox="1"/>
          <p:nvPr/>
        </p:nvSpPr>
        <p:spPr>
          <a:xfrm>
            <a:off x="6400800" y="4160519"/>
            <a:ext cx="502920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 The Research Solution: Non-Camera RF Digital Twin</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The Engineering Imperative: </a:t>
            </a:r>
            <a:r>
              <a:rPr lang="en-US" sz="1300">
                <a:solidFill>
                  <a:srgbClr val="DCE6F2"/>
                </a:solidFill>
                <a:latin typeface="Quattrocento Sans"/>
                <a:ea typeface="Quattrocento Sans"/>
                <a:cs typeface="Quattrocento Sans"/>
                <a:sym typeface="Quattrocento Sans"/>
              </a:rPr>
              <a:t>We require a software-defined, real-time tracking testbed that replaces cameras with ordinary Wi-Fi propagation analysis.</a:t>
            </a:r>
            <a:endParaRPr/>
          </a:p>
          <a:p>
            <a:pPr indent="0" lvl="0" marL="0" marR="0" rtl="0" algn="l">
              <a:spcBef>
                <a:spcPts val="1000"/>
              </a:spcBef>
              <a:spcAft>
                <a:spcPts val="0"/>
              </a:spcAft>
              <a:buNone/>
            </a:pPr>
            <a:r>
              <a:rPr b="1" lang="en-US" sz="1300">
                <a:solidFill>
                  <a:srgbClr val="38DAEC"/>
                </a:solidFill>
                <a:latin typeface="Quattrocento Sans"/>
                <a:ea typeface="Quattrocento Sans"/>
                <a:cs typeface="Quattrocento Sans"/>
                <a:sym typeface="Quattrocento Sans"/>
              </a:rPr>
              <a:t>•   Bridging RF with 3D Simulation: </a:t>
            </a:r>
            <a:r>
              <a:rPr lang="en-US" sz="1300">
                <a:solidFill>
                  <a:srgbClr val="DCE6F2"/>
                </a:solidFill>
                <a:latin typeface="Quattrocento Sans"/>
                <a:ea typeface="Quattrocento Sans"/>
                <a:cs typeface="Quattrocento Sans"/>
                <a:sym typeface="Quattrocento Sans"/>
              </a:rPr>
              <a:t>Transforming raw noisy Received Signal Strength (RSSI) into an intuitive, synchronized Three.js virtual laboratory.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5"/>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5"/>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04. TARGET ACHIEVEMENTS</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Research &amp; Engineering Objectives</a:t>
            </a:r>
            <a:endParaRPr/>
          </a:p>
        </p:txBody>
      </p:sp>
      <p:sp>
        <p:nvSpPr>
          <p:cNvPr id="196" name="Google Shape;196;p5"/>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5"/>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5"/>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199" name="Google Shape;199;p5"/>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5 / 25</a:t>
            </a:r>
            <a:endParaRPr/>
          </a:p>
        </p:txBody>
      </p:sp>
      <p:sp>
        <p:nvSpPr>
          <p:cNvPr id="200" name="Google Shape;200;p5"/>
          <p:cNvSpPr/>
          <p:nvPr/>
        </p:nvSpPr>
        <p:spPr>
          <a:xfrm>
            <a:off x="548640" y="146304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5"/>
          <p:cNvSpPr txBox="1"/>
          <p:nvPr/>
        </p:nvSpPr>
        <p:spPr>
          <a:xfrm>
            <a:off x="731520" y="164592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FFFFFF"/>
                </a:solidFill>
                <a:latin typeface="Quattrocento Sans"/>
                <a:ea typeface="Quattrocento Sans"/>
                <a:cs typeface="Quattrocento Sans"/>
                <a:sym typeface="Quattrocento Sans"/>
              </a:rPr>
              <a:t>🌐 Real-Time Wi-Fi Digital Twin</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Develop a sub-second, synchronized virtual laboratory reflecting live indoor RF states.</a:t>
            </a:r>
            <a:endParaRPr/>
          </a:p>
        </p:txBody>
      </p:sp>
      <p:sp>
        <p:nvSpPr>
          <p:cNvPr id="202" name="Google Shape;202;p5"/>
          <p:cNvSpPr/>
          <p:nvPr/>
        </p:nvSpPr>
        <p:spPr>
          <a:xfrm>
            <a:off x="3383280" y="146304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5"/>
          <p:cNvSpPr txBox="1"/>
          <p:nvPr/>
        </p:nvSpPr>
        <p:spPr>
          <a:xfrm>
            <a:off x="3566160" y="164592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FFFFFF"/>
                </a:solidFill>
                <a:latin typeface="Quattrocento Sans"/>
                <a:ea typeface="Quattrocento Sans"/>
                <a:cs typeface="Quattrocento Sans"/>
                <a:sym typeface="Quattrocento Sans"/>
              </a:rPr>
              <a:t>🔍 Automatic Device Discovery</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Implement zero-touch detection of connected Wi-Fi clients (smartphones, IoT, laptops).</a:t>
            </a:r>
            <a:endParaRPr/>
          </a:p>
        </p:txBody>
      </p:sp>
      <p:sp>
        <p:nvSpPr>
          <p:cNvPr id="204" name="Google Shape;204;p5"/>
          <p:cNvSpPr/>
          <p:nvPr/>
        </p:nvSpPr>
        <p:spPr>
          <a:xfrm>
            <a:off x="6217920" y="146304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5"/>
          <p:cNvSpPr txBox="1"/>
          <p:nvPr/>
        </p:nvSpPr>
        <p:spPr>
          <a:xfrm>
            <a:off x="6400800" y="164592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FFFFFF"/>
                </a:solidFill>
                <a:latin typeface="Quattrocento Sans"/>
                <a:ea typeface="Quattrocento Sans"/>
                <a:cs typeface="Quattrocento Sans"/>
                <a:sym typeface="Quattrocento Sans"/>
              </a:rPr>
              <a:t>📏 RSSI Distance Estimation</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Convert noisy raw dBm attenuation into spatial Euclidean radial distances via EMA filtering.</a:t>
            </a:r>
            <a:endParaRPr/>
          </a:p>
        </p:txBody>
      </p:sp>
      <p:sp>
        <p:nvSpPr>
          <p:cNvPr id="206" name="Google Shape;206;p5"/>
          <p:cNvSpPr/>
          <p:nvPr/>
        </p:nvSpPr>
        <p:spPr>
          <a:xfrm>
            <a:off x="9052560" y="146304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5"/>
          <p:cNvSpPr txBox="1"/>
          <p:nvPr/>
        </p:nvSpPr>
        <p:spPr>
          <a:xfrm>
            <a:off x="9235440" y="164592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FFFFFF"/>
                </a:solidFill>
                <a:latin typeface="Quattrocento Sans"/>
                <a:ea typeface="Quattrocento Sans"/>
                <a:cs typeface="Quattrocento Sans"/>
                <a:sym typeface="Quattrocento Sans"/>
              </a:rPr>
              <a:t>🧑 3D Human Avatar Graphics</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Dynamically instantiate and reposition interactive human representations inside Three.js.</a:t>
            </a:r>
            <a:endParaRPr/>
          </a:p>
        </p:txBody>
      </p:sp>
      <p:sp>
        <p:nvSpPr>
          <p:cNvPr id="208" name="Google Shape;208;p5"/>
          <p:cNvSpPr/>
          <p:nvPr/>
        </p:nvSpPr>
        <p:spPr>
          <a:xfrm>
            <a:off x="548640" y="384048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5"/>
          <p:cNvSpPr txBox="1"/>
          <p:nvPr/>
        </p:nvSpPr>
        <p:spPr>
          <a:xfrm>
            <a:off x="731520" y="402336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FFFFFF"/>
                </a:solidFill>
                <a:latin typeface="Quattrocento Sans"/>
                <a:ea typeface="Quattrocento Sans"/>
                <a:cs typeface="Quattrocento Sans"/>
                <a:sym typeface="Quattrocento Sans"/>
              </a:rPr>
              <a:t>📊 Enterprise Web Dashboard</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Engineer a sleek, professional telemetry dashboard featuring gauges, logs, and live health charts.</a:t>
            </a:r>
            <a:endParaRPr/>
          </a:p>
        </p:txBody>
      </p:sp>
      <p:sp>
        <p:nvSpPr>
          <p:cNvPr id="210" name="Google Shape;210;p5"/>
          <p:cNvSpPr/>
          <p:nvPr/>
        </p:nvSpPr>
        <p:spPr>
          <a:xfrm>
            <a:off x="3383280" y="384048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5"/>
          <p:cNvSpPr txBox="1"/>
          <p:nvPr/>
        </p:nvSpPr>
        <p:spPr>
          <a:xfrm>
            <a:off x="3566160" y="402336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FFFFFF"/>
                </a:solidFill>
                <a:latin typeface="Quattrocento Sans"/>
                <a:ea typeface="Quattrocento Sans"/>
                <a:cs typeface="Quattrocento Sans"/>
                <a:sym typeface="Quattrocento Sans"/>
              </a:rPr>
              <a:t>🔗 Automatic Topology Updates</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Construct live force-directed network graphs visualizing router-to-client wireless connectivity.</a:t>
            </a:r>
            <a:endParaRPr/>
          </a:p>
        </p:txBody>
      </p:sp>
      <p:sp>
        <p:nvSpPr>
          <p:cNvPr id="212" name="Google Shape;212;p5"/>
          <p:cNvSpPr/>
          <p:nvPr/>
        </p:nvSpPr>
        <p:spPr>
          <a:xfrm>
            <a:off x="6217920" y="384048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5"/>
          <p:cNvSpPr txBox="1"/>
          <p:nvPr/>
        </p:nvSpPr>
        <p:spPr>
          <a:xfrm>
            <a:off x="6400800" y="402336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FFFFFF"/>
                </a:solidFill>
                <a:latin typeface="Quattrocento Sans"/>
                <a:ea typeface="Quattrocento Sans"/>
                <a:cs typeface="Quattrocento Sans"/>
                <a:sym typeface="Quattrocento Sans"/>
              </a:rPr>
              <a:t>⚡ Scalable Event Architecture</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Design an asynchronous Python WebSocket engine capable of concurrent multi-user telemetry.</a:t>
            </a:r>
            <a:endParaRPr/>
          </a:p>
        </p:txBody>
      </p:sp>
      <p:sp>
        <p:nvSpPr>
          <p:cNvPr id="214" name="Google Shape;214;p5"/>
          <p:cNvSpPr/>
          <p:nvPr/>
        </p:nvSpPr>
        <p:spPr>
          <a:xfrm>
            <a:off x="9052560" y="384048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5"/>
          <p:cNvSpPr txBox="1"/>
          <p:nvPr/>
        </p:nvSpPr>
        <p:spPr>
          <a:xfrm>
            <a:off x="9235440" y="402336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FFFFFF"/>
                </a:solidFill>
                <a:latin typeface="Quattrocento Sans"/>
                <a:ea typeface="Quattrocento Sans"/>
                <a:cs typeface="Quattrocento Sans"/>
                <a:sym typeface="Quattrocento Sans"/>
              </a:rPr>
              <a:t>🚀 Future-Proof Sensor Support</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Provide modular abstract classes for upcoming CSI, BLE Angle-of-Arrival (AoA), and mmWave hardware.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6"/>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6"/>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05. SYSTEM BLUEPRINT</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Overall System Architecture Diagram</a:t>
            </a:r>
            <a:endParaRPr/>
          </a:p>
        </p:txBody>
      </p:sp>
      <p:sp>
        <p:nvSpPr>
          <p:cNvPr id="223" name="Google Shape;223;p6"/>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6"/>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6"/>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226" name="Google Shape;226;p6"/>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6 / 25</a:t>
            </a:r>
            <a:endParaRPr/>
          </a:p>
        </p:txBody>
      </p:sp>
      <p:sp>
        <p:nvSpPr>
          <p:cNvPr id="227" name="Google Shape;227;p6"/>
          <p:cNvSpPr/>
          <p:nvPr/>
        </p:nvSpPr>
        <p:spPr>
          <a:xfrm>
            <a:off x="548640" y="146304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Commercial Router</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Physical Wi-Fi Gateway</a:t>
            </a:r>
            <a:endParaRPr/>
          </a:p>
        </p:txBody>
      </p:sp>
      <p:sp>
        <p:nvSpPr>
          <p:cNvPr id="228" name="Google Shape;228;p6"/>
          <p:cNvSpPr txBox="1"/>
          <p:nvPr/>
        </p:nvSpPr>
        <p:spPr>
          <a:xfrm>
            <a:off x="3082213" y="146304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229" name="Google Shape;229;p6"/>
          <p:cNvSpPr/>
          <p:nvPr/>
        </p:nvSpPr>
        <p:spPr>
          <a:xfrm>
            <a:off x="3402253" y="146304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Router Plugin</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SOAP/REST Driver API</a:t>
            </a:r>
            <a:endParaRPr/>
          </a:p>
        </p:txBody>
      </p:sp>
      <p:sp>
        <p:nvSpPr>
          <p:cNvPr id="230" name="Google Shape;230;p6"/>
          <p:cNvSpPr txBox="1"/>
          <p:nvPr/>
        </p:nvSpPr>
        <p:spPr>
          <a:xfrm>
            <a:off x="5935827" y="146304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231" name="Google Shape;231;p6"/>
          <p:cNvSpPr/>
          <p:nvPr/>
        </p:nvSpPr>
        <p:spPr>
          <a:xfrm>
            <a:off x="6255867" y="146304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Device Discovery</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ARP / DHCP Polling</a:t>
            </a:r>
            <a:endParaRPr/>
          </a:p>
        </p:txBody>
      </p:sp>
      <p:sp>
        <p:nvSpPr>
          <p:cNvPr id="232" name="Google Shape;232;p6"/>
          <p:cNvSpPr txBox="1"/>
          <p:nvPr/>
        </p:nvSpPr>
        <p:spPr>
          <a:xfrm>
            <a:off x="8789441" y="146304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233" name="Google Shape;233;p6"/>
          <p:cNvSpPr/>
          <p:nvPr/>
        </p:nvSpPr>
        <p:spPr>
          <a:xfrm>
            <a:off x="9109481" y="146304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State Manager</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Concurrent Client Map</a:t>
            </a:r>
            <a:endParaRPr/>
          </a:p>
        </p:txBody>
      </p:sp>
      <p:sp>
        <p:nvSpPr>
          <p:cNvPr id="234" name="Google Shape;234;p6"/>
          <p:cNvSpPr/>
          <p:nvPr/>
        </p:nvSpPr>
        <p:spPr>
          <a:xfrm>
            <a:off x="548640" y="315468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RSSI Collection</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Raw dBm Scraping Engine</a:t>
            </a:r>
            <a:endParaRPr/>
          </a:p>
        </p:txBody>
      </p:sp>
      <p:sp>
        <p:nvSpPr>
          <p:cNvPr id="235" name="Google Shape;235;p6"/>
          <p:cNvSpPr txBox="1"/>
          <p:nvPr/>
        </p:nvSpPr>
        <p:spPr>
          <a:xfrm>
            <a:off x="3082213" y="315468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236" name="Google Shape;236;p6"/>
          <p:cNvSpPr/>
          <p:nvPr/>
        </p:nvSpPr>
        <p:spPr>
          <a:xfrm>
            <a:off x="3402253" y="315468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Distance Engine</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Log-Distance EMA Math</a:t>
            </a:r>
            <a:endParaRPr/>
          </a:p>
        </p:txBody>
      </p:sp>
      <p:sp>
        <p:nvSpPr>
          <p:cNvPr id="237" name="Google Shape;237;p6"/>
          <p:cNvSpPr txBox="1"/>
          <p:nvPr/>
        </p:nvSpPr>
        <p:spPr>
          <a:xfrm>
            <a:off x="5935827" y="315468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238" name="Google Shape;238;p6"/>
          <p:cNvSpPr/>
          <p:nvPr/>
        </p:nvSpPr>
        <p:spPr>
          <a:xfrm>
            <a:off x="6255867" y="315468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WebSocket Stream</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Async Sub-second TCP Push</a:t>
            </a:r>
            <a:endParaRPr/>
          </a:p>
        </p:txBody>
      </p:sp>
      <p:sp>
        <p:nvSpPr>
          <p:cNvPr id="239" name="Google Shape;239;p6"/>
          <p:cNvSpPr txBox="1"/>
          <p:nvPr/>
        </p:nvSpPr>
        <p:spPr>
          <a:xfrm>
            <a:off x="8789441" y="315468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240" name="Google Shape;240;p6"/>
          <p:cNvSpPr/>
          <p:nvPr/>
        </p:nvSpPr>
        <p:spPr>
          <a:xfrm>
            <a:off x="9109481" y="315468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Frontend UI</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React 18 SPA Framework</a:t>
            </a:r>
            <a:endParaRPr/>
          </a:p>
        </p:txBody>
      </p:sp>
      <p:sp>
        <p:nvSpPr>
          <p:cNvPr id="241" name="Google Shape;241;p6"/>
          <p:cNvSpPr/>
          <p:nvPr/>
        </p:nvSpPr>
        <p:spPr>
          <a:xfrm>
            <a:off x="548640" y="484632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Three.js Canvas</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GPU 3D Scene Renderer</a:t>
            </a:r>
            <a:endParaRPr/>
          </a:p>
        </p:txBody>
      </p:sp>
      <p:sp>
        <p:nvSpPr>
          <p:cNvPr id="242" name="Google Shape;242;p6"/>
          <p:cNvSpPr txBox="1"/>
          <p:nvPr/>
        </p:nvSpPr>
        <p:spPr>
          <a:xfrm>
            <a:off x="3082213" y="484632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243" name="Google Shape;243;p6"/>
          <p:cNvSpPr/>
          <p:nvPr/>
        </p:nvSpPr>
        <p:spPr>
          <a:xfrm>
            <a:off x="3402253" y="484632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Digital Twin Lab</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Virtual Room Geometry</a:t>
            </a:r>
            <a:endParaRPr/>
          </a:p>
        </p:txBody>
      </p:sp>
      <p:sp>
        <p:nvSpPr>
          <p:cNvPr id="244" name="Google Shape;244;p6"/>
          <p:cNvSpPr txBox="1"/>
          <p:nvPr/>
        </p:nvSpPr>
        <p:spPr>
          <a:xfrm>
            <a:off x="5935827" y="484632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245" name="Google Shape;245;p6"/>
          <p:cNvSpPr/>
          <p:nvPr/>
        </p:nvSpPr>
        <p:spPr>
          <a:xfrm>
            <a:off x="6255867" y="484632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Human Avatars</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Real-Time 3D Presence</a:t>
            </a:r>
            <a:endParaRPr/>
          </a:p>
        </p:txBody>
      </p:sp>
      <p:sp>
        <p:nvSpPr>
          <p:cNvPr id="246" name="Google Shape;246;p6"/>
          <p:cNvSpPr txBox="1"/>
          <p:nvPr/>
        </p:nvSpPr>
        <p:spPr>
          <a:xfrm>
            <a:off x="8789441" y="484632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247" name="Google Shape;247;p6"/>
          <p:cNvSpPr/>
          <p:nvPr/>
        </p:nvSpPr>
        <p:spPr>
          <a:xfrm>
            <a:off x="9109481" y="484632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Telemetry UI</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Live Enterprise Charts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7"/>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7"/>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06. SOFTWARE &amp; TOOLS ARCHITECTURE</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Technology Stack Ecosystem</a:t>
            </a:r>
            <a:endParaRPr/>
          </a:p>
        </p:txBody>
      </p:sp>
      <p:sp>
        <p:nvSpPr>
          <p:cNvPr id="255" name="Google Shape;255;p7"/>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7"/>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7"/>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258" name="Google Shape;258;p7"/>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7 / 25</a:t>
            </a:r>
            <a:endParaRPr/>
          </a:p>
        </p:txBody>
      </p:sp>
      <p:sp>
        <p:nvSpPr>
          <p:cNvPr id="259" name="Google Shape;259;p7"/>
          <p:cNvSpPr/>
          <p:nvPr/>
        </p:nvSpPr>
        <p:spPr>
          <a:xfrm>
            <a:off x="548640" y="1463040"/>
            <a:ext cx="3474720" cy="466344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7"/>
          <p:cNvSpPr txBox="1"/>
          <p:nvPr/>
        </p:nvSpPr>
        <p:spPr>
          <a:xfrm>
            <a:off x="731520" y="1645920"/>
            <a:ext cx="310896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Quattrocento Sans"/>
                <a:ea typeface="Quattrocento Sans"/>
                <a:cs typeface="Quattrocento Sans"/>
                <a:sym typeface="Quattrocento Sans"/>
              </a:rPr>
              <a:t>⚙️ Backend Engine</a:t>
            </a:r>
            <a:endParaRPr/>
          </a:p>
          <a:p>
            <a:pPr indent="0" lvl="0" marL="0" marR="0" rtl="0" algn="l">
              <a:spcBef>
                <a:spcPts val="1600"/>
              </a:spcBef>
              <a:spcAft>
                <a:spcPts val="0"/>
              </a:spcAft>
              <a:buNone/>
            </a:pPr>
            <a:r>
              <a:rPr b="1" lang="en-US" sz="1250">
                <a:solidFill>
                  <a:srgbClr val="38DAEC"/>
                </a:solidFill>
                <a:latin typeface="Quattrocento Sans"/>
                <a:ea typeface="Quattrocento Sans"/>
                <a:cs typeface="Quattrocento Sans"/>
                <a:sym typeface="Quattrocento Sans"/>
              </a:rPr>
              <a:t>•  🐍 Python 3.10+: </a:t>
            </a:r>
            <a:r>
              <a:rPr lang="en-US" sz="1250">
                <a:solidFill>
                  <a:srgbClr val="DCE6F2"/>
                </a:solidFill>
                <a:latin typeface="Quattrocento Sans"/>
                <a:ea typeface="Quattrocento Sans"/>
                <a:cs typeface="Quattrocento Sans"/>
                <a:sym typeface="Quattrocento Sans"/>
              </a:rPr>
              <a:t>Core backend language providing high concurrency, rigorous mathematical modeling, and hardware driver extensibility.</a:t>
            </a:r>
            <a:endParaRPr/>
          </a:p>
          <a:p>
            <a:pPr indent="0" lvl="0" marL="0" marR="0" rtl="0" algn="l">
              <a:spcBef>
                <a:spcPts val="1200"/>
              </a:spcBef>
              <a:spcAft>
                <a:spcPts val="0"/>
              </a:spcAft>
              <a:buNone/>
            </a:pPr>
            <a:r>
              <a:rPr b="1" lang="en-US" sz="1250">
                <a:solidFill>
                  <a:srgbClr val="38DAEC"/>
                </a:solidFill>
                <a:latin typeface="Quattrocento Sans"/>
                <a:ea typeface="Quattrocento Sans"/>
                <a:cs typeface="Quattrocento Sans"/>
                <a:sym typeface="Quattrocento Sans"/>
              </a:rPr>
              <a:t>•  ⚡ FastAPI Framework: </a:t>
            </a:r>
            <a:r>
              <a:rPr lang="en-US" sz="1250">
                <a:solidFill>
                  <a:srgbClr val="DCE6F2"/>
                </a:solidFill>
                <a:latin typeface="Quattrocento Sans"/>
                <a:ea typeface="Quattrocento Sans"/>
                <a:cs typeface="Quattrocento Sans"/>
                <a:sym typeface="Quattrocento Sans"/>
              </a:rPr>
              <a:t>Modern high-performance asynchronous REST API framework serving configuration endpoints and client metadata.</a:t>
            </a:r>
            <a:endParaRPr/>
          </a:p>
          <a:p>
            <a:pPr indent="0" lvl="0" marL="0" marR="0" rtl="0" algn="l">
              <a:spcBef>
                <a:spcPts val="1200"/>
              </a:spcBef>
              <a:spcAft>
                <a:spcPts val="0"/>
              </a:spcAft>
              <a:buNone/>
            </a:pPr>
            <a:r>
              <a:rPr b="1" lang="en-US" sz="1250">
                <a:solidFill>
                  <a:srgbClr val="38DAEC"/>
                </a:solidFill>
                <a:latin typeface="Quattrocento Sans"/>
                <a:ea typeface="Quattrocento Sans"/>
                <a:cs typeface="Quattrocento Sans"/>
                <a:sym typeface="Quattrocento Sans"/>
              </a:rPr>
              <a:t>•  🔌 WebSockets Protocol: </a:t>
            </a:r>
            <a:r>
              <a:rPr lang="en-US" sz="1250">
                <a:solidFill>
                  <a:srgbClr val="DCE6F2"/>
                </a:solidFill>
                <a:latin typeface="Quattrocento Sans"/>
                <a:ea typeface="Quattrocento Sans"/>
                <a:cs typeface="Quattrocento Sans"/>
                <a:sym typeface="Quattrocento Sans"/>
              </a:rPr>
              <a:t>Bi-directional persistent TCP connections pushing continuous telemetry stream updates to client web browsers.</a:t>
            </a:r>
            <a:endParaRPr/>
          </a:p>
          <a:p>
            <a:pPr indent="0" lvl="0" marL="0" marR="0" rtl="0" algn="l">
              <a:spcBef>
                <a:spcPts val="1200"/>
              </a:spcBef>
              <a:spcAft>
                <a:spcPts val="0"/>
              </a:spcAft>
              <a:buNone/>
            </a:pPr>
            <a:r>
              <a:rPr b="1" lang="en-US" sz="1250">
                <a:solidFill>
                  <a:srgbClr val="38DAEC"/>
                </a:solidFill>
                <a:latin typeface="Quattrocento Sans"/>
                <a:ea typeface="Quattrocento Sans"/>
                <a:cs typeface="Quattrocento Sans"/>
                <a:sym typeface="Quattrocento Sans"/>
              </a:rPr>
              <a:t>•  📐 Pydantic &amp; SQLAlchemy: </a:t>
            </a:r>
            <a:r>
              <a:rPr lang="en-US" sz="1250">
                <a:solidFill>
                  <a:srgbClr val="DCE6F2"/>
                </a:solidFill>
                <a:latin typeface="Quattrocento Sans"/>
                <a:ea typeface="Quattrocento Sans"/>
                <a:cs typeface="Quattrocento Sans"/>
                <a:sym typeface="Quattrocento Sans"/>
              </a:rPr>
              <a:t>Strict data model validation ensuring type safety across raw router RSSI inputs and SQL storage logs.</a:t>
            </a:r>
            <a:endParaRPr/>
          </a:p>
        </p:txBody>
      </p:sp>
      <p:sp>
        <p:nvSpPr>
          <p:cNvPr id="261" name="Google Shape;261;p7"/>
          <p:cNvSpPr/>
          <p:nvPr/>
        </p:nvSpPr>
        <p:spPr>
          <a:xfrm>
            <a:off x="4297680" y="1463040"/>
            <a:ext cx="3474720" cy="466344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7"/>
          <p:cNvSpPr txBox="1"/>
          <p:nvPr/>
        </p:nvSpPr>
        <p:spPr>
          <a:xfrm>
            <a:off x="4480560" y="1645920"/>
            <a:ext cx="310896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Quattrocento Sans"/>
                <a:ea typeface="Quattrocento Sans"/>
                <a:cs typeface="Quattrocento Sans"/>
                <a:sym typeface="Quattrocento Sans"/>
              </a:rPr>
              <a:t>🖥️ Frontend &amp; 3D Graphics</a:t>
            </a:r>
            <a:endParaRPr/>
          </a:p>
          <a:p>
            <a:pPr indent="0" lvl="0" marL="0" marR="0" rtl="0" algn="l">
              <a:spcBef>
                <a:spcPts val="1600"/>
              </a:spcBef>
              <a:spcAft>
                <a:spcPts val="0"/>
              </a:spcAft>
              <a:buNone/>
            </a:pPr>
            <a:r>
              <a:rPr b="1" lang="en-US" sz="1250">
                <a:solidFill>
                  <a:srgbClr val="38DAEC"/>
                </a:solidFill>
                <a:latin typeface="Quattrocento Sans"/>
                <a:ea typeface="Quattrocento Sans"/>
                <a:cs typeface="Quattrocento Sans"/>
                <a:sym typeface="Quattrocento Sans"/>
              </a:rPr>
              <a:t>•  ⚛️ React 18 &amp; TypeScript: </a:t>
            </a:r>
            <a:r>
              <a:rPr lang="en-US" sz="1250">
                <a:solidFill>
                  <a:srgbClr val="DCE6F2"/>
                </a:solidFill>
                <a:latin typeface="Quattrocento Sans"/>
                <a:ea typeface="Quattrocento Sans"/>
                <a:cs typeface="Quattrocento Sans"/>
                <a:sym typeface="Quattrocento Sans"/>
              </a:rPr>
              <a:t>Component-driven Single Page Application engineered for modularity, strict typing, and responsive state reactivity.</a:t>
            </a:r>
            <a:endParaRPr/>
          </a:p>
          <a:p>
            <a:pPr indent="0" lvl="0" marL="0" marR="0" rtl="0" algn="l">
              <a:spcBef>
                <a:spcPts val="1200"/>
              </a:spcBef>
              <a:spcAft>
                <a:spcPts val="0"/>
              </a:spcAft>
              <a:buNone/>
            </a:pPr>
            <a:r>
              <a:rPr b="1" lang="en-US" sz="1250">
                <a:solidFill>
                  <a:srgbClr val="38DAEC"/>
                </a:solidFill>
                <a:latin typeface="Quattrocento Sans"/>
                <a:ea typeface="Quattrocento Sans"/>
                <a:cs typeface="Quattrocento Sans"/>
                <a:sym typeface="Quattrocento Sans"/>
              </a:rPr>
              <a:t>•  🎮 Three.js &amp; Fiber: </a:t>
            </a:r>
            <a:r>
              <a:rPr lang="en-US" sz="1250">
                <a:solidFill>
                  <a:srgbClr val="DCE6F2"/>
                </a:solidFill>
                <a:latin typeface="Quattrocento Sans"/>
                <a:ea typeface="Quattrocento Sans"/>
                <a:cs typeface="Quattrocento Sans"/>
                <a:sym typeface="Quattrocento Sans"/>
              </a:rPr>
              <a:t>Industry-standard JavaScript 3D engine rendering interactive virtual laboratory rooms, shadows, and avatars.</a:t>
            </a:r>
            <a:endParaRPr/>
          </a:p>
          <a:p>
            <a:pPr indent="0" lvl="0" marL="0" marR="0" rtl="0" algn="l">
              <a:spcBef>
                <a:spcPts val="1200"/>
              </a:spcBef>
              <a:spcAft>
                <a:spcPts val="0"/>
              </a:spcAft>
              <a:buNone/>
            </a:pPr>
            <a:r>
              <a:rPr b="1" lang="en-US" sz="1250">
                <a:solidFill>
                  <a:srgbClr val="38DAEC"/>
                </a:solidFill>
                <a:latin typeface="Quattrocento Sans"/>
                <a:ea typeface="Quattrocento Sans"/>
                <a:cs typeface="Quattrocento Sans"/>
                <a:sym typeface="Quattrocento Sans"/>
              </a:rPr>
              <a:t>•  ⚡ Vite Build Engine: </a:t>
            </a:r>
            <a:r>
              <a:rPr lang="en-US" sz="1250">
                <a:solidFill>
                  <a:srgbClr val="DCE6F2"/>
                </a:solidFill>
                <a:latin typeface="Quattrocento Sans"/>
                <a:ea typeface="Quattrocento Sans"/>
                <a:cs typeface="Quattrocento Sans"/>
                <a:sym typeface="Quattrocento Sans"/>
              </a:rPr>
              <a:t>Next-generation bundling utility delivering instant module hot-reloading and optimized production distribution.</a:t>
            </a:r>
            <a:endParaRPr/>
          </a:p>
          <a:p>
            <a:pPr indent="0" lvl="0" marL="0" marR="0" rtl="0" algn="l">
              <a:spcBef>
                <a:spcPts val="1200"/>
              </a:spcBef>
              <a:spcAft>
                <a:spcPts val="0"/>
              </a:spcAft>
              <a:buNone/>
            </a:pPr>
            <a:r>
              <a:rPr b="1" lang="en-US" sz="1250">
                <a:solidFill>
                  <a:srgbClr val="38DAEC"/>
                </a:solidFill>
                <a:latin typeface="Quattrocento Sans"/>
                <a:ea typeface="Quattrocento Sans"/>
                <a:cs typeface="Quattrocento Sans"/>
                <a:sym typeface="Quattrocento Sans"/>
              </a:rPr>
              <a:t>•  🎨 TailwindCSS &amp; Charts: </a:t>
            </a:r>
            <a:r>
              <a:rPr lang="en-US" sz="1250">
                <a:solidFill>
                  <a:srgbClr val="DCE6F2"/>
                </a:solidFill>
                <a:latin typeface="Quattrocento Sans"/>
                <a:ea typeface="Quattrocento Sans"/>
                <a:cs typeface="Quattrocento Sans"/>
                <a:sym typeface="Quattrocento Sans"/>
              </a:rPr>
              <a:t>Modern dark-blue enterprise design system featuring glassmorphic components and real-time charting canvases.</a:t>
            </a:r>
            <a:endParaRPr/>
          </a:p>
        </p:txBody>
      </p:sp>
      <p:sp>
        <p:nvSpPr>
          <p:cNvPr id="263" name="Google Shape;263;p7"/>
          <p:cNvSpPr/>
          <p:nvPr/>
        </p:nvSpPr>
        <p:spPr>
          <a:xfrm>
            <a:off x="8046720" y="1463040"/>
            <a:ext cx="3566160" cy="466344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7"/>
          <p:cNvSpPr txBox="1"/>
          <p:nvPr/>
        </p:nvSpPr>
        <p:spPr>
          <a:xfrm>
            <a:off x="8229600" y="1645920"/>
            <a:ext cx="320040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Quattrocento Sans"/>
                <a:ea typeface="Quattrocento Sans"/>
                <a:cs typeface="Quattrocento Sans"/>
                <a:sym typeface="Quattrocento Sans"/>
              </a:rPr>
              <a:t>🌐 Networking &amp; Protocols</a:t>
            </a:r>
            <a:endParaRPr/>
          </a:p>
          <a:p>
            <a:pPr indent="0" lvl="0" marL="0" marR="0" rtl="0" algn="l">
              <a:spcBef>
                <a:spcPts val="1600"/>
              </a:spcBef>
              <a:spcAft>
                <a:spcPts val="0"/>
              </a:spcAft>
              <a:buNone/>
            </a:pPr>
            <a:r>
              <a:rPr b="1" lang="en-US" sz="1250">
                <a:solidFill>
                  <a:srgbClr val="38DAEC"/>
                </a:solidFill>
                <a:latin typeface="Quattrocento Sans"/>
                <a:ea typeface="Quattrocento Sans"/>
                <a:cs typeface="Quattrocento Sans"/>
                <a:sym typeface="Quattrocento Sans"/>
              </a:rPr>
              <a:t>•  📡 Commercial Router APIs: </a:t>
            </a:r>
            <a:r>
              <a:rPr lang="en-US" sz="1250">
                <a:solidFill>
                  <a:srgbClr val="DCE6F2"/>
                </a:solidFill>
                <a:latin typeface="Quattrocento Sans"/>
                <a:ea typeface="Quattrocento Sans"/>
                <a:cs typeface="Quattrocento Sans"/>
                <a:sym typeface="Quattrocento Sans"/>
              </a:rPr>
              <a:t>Interactions via native network gateway protocols including SOAP XML interfaces, RESTful APIs, and telnet scraping.</a:t>
            </a:r>
            <a:endParaRPr/>
          </a:p>
          <a:p>
            <a:pPr indent="0" lvl="0" marL="0" marR="0" rtl="0" algn="l">
              <a:spcBef>
                <a:spcPts val="1200"/>
              </a:spcBef>
              <a:spcAft>
                <a:spcPts val="0"/>
              </a:spcAft>
              <a:buNone/>
            </a:pPr>
            <a:r>
              <a:rPr b="1" lang="en-US" sz="1250">
                <a:solidFill>
                  <a:srgbClr val="38DAEC"/>
                </a:solidFill>
                <a:latin typeface="Quattrocento Sans"/>
                <a:ea typeface="Quattrocento Sans"/>
                <a:cs typeface="Quattrocento Sans"/>
                <a:sym typeface="Quattrocento Sans"/>
              </a:rPr>
              <a:t>•  📦 JSON RPC Payloads: </a:t>
            </a:r>
            <a:r>
              <a:rPr lang="en-US" sz="1250">
                <a:solidFill>
                  <a:srgbClr val="DCE6F2"/>
                </a:solidFill>
                <a:latin typeface="Quattrocento Sans"/>
                <a:ea typeface="Quattrocento Sans"/>
                <a:cs typeface="Quattrocento Sans"/>
                <a:sym typeface="Quattrocento Sans"/>
              </a:rPr>
              <a:t>Lightweight, standardized JSON schema structures representing client MAC addresses, IP assignments, and RSSI metrics.</a:t>
            </a:r>
            <a:endParaRPr/>
          </a:p>
          <a:p>
            <a:pPr indent="0" lvl="0" marL="0" marR="0" rtl="0" algn="l">
              <a:spcBef>
                <a:spcPts val="1200"/>
              </a:spcBef>
              <a:spcAft>
                <a:spcPts val="0"/>
              </a:spcAft>
              <a:buNone/>
            </a:pPr>
            <a:r>
              <a:rPr b="1" lang="en-US" sz="1250">
                <a:solidFill>
                  <a:srgbClr val="38DAEC"/>
                </a:solidFill>
                <a:latin typeface="Quattrocento Sans"/>
                <a:ea typeface="Quattrocento Sans"/>
                <a:cs typeface="Quattrocento Sans"/>
                <a:sym typeface="Quattrocento Sans"/>
              </a:rPr>
              <a:t>•  🔄 Low-Latency Polling: </a:t>
            </a:r>
            <a:r>
              <a:rPr lang="en-US" sz="1250">
                <a:solidFill>
                  <a:srgbClr val="DCE6F2"/>
                </a:solidFill>
                <a:latin typeface="Quattrocento Sans"/>
                <a:ea typeface="Quattrocento Sans"/>
                <a:cs typeface="Quattrocento Sans"/>
                <a:sym typeface="Quattrocento Sans"/>
              </a:rPr>
              <a:t>Configurable sampling frequency intervals ranging from 250ms to 2000ms tailored for environmental noise smoothing.</a:t>
            </a:r>
            <a:endParaRPr/>
          </a:p>
          <a:p>
            <a:pPr indent="0" lvl="0" marL="0" marR="0" rtl="0" algn="l">
              <a:spcBef>
                <a:spcPts val="1200"/>
              </a:spcBef>
              <a:spcAft>
                <a:spcPts val="0"/>
              </a:spcAft>
              <a:buNone/>
            </a:pPr>
            <a:r>
              <a:rPr b="1" lang="en-US" sz="1250">
                <a:solidFill>
                  <a:srgbClr val="38DAEC"/>
                </a:solidFill>
                <a:latin typeface="Quattrocento Sans"/>
                <a:ea typeface="Quattrocento Sans"/>
                <a:cs typeface="Quattrocento Sans"/>
                <a:sym typeface="Quattrocento Sans"/>
              </a:rPr>
              <a:t>•  🔒 Enterprise Security: </a:t>
            </a:r>
            <a:r>
              <a:rPr lang="en-US" sz="1250">
                <a:solidFill>
                  <a:srgbClr val="DCE6F2"/>
                </a:solidFill>
                <a:latin typeface="Quattrocento Sans"/>
                <a:ea typeface="Quattrocento Sans"/>
                <a:cs typeface="Quattrocento Sans"/>
                <a:sym typeface="Quattrocento Sans"/>
              </a:rPr>
              <a:t>Secure local LAN binding and authenticated WebSocket handshakes preventing unauthorized network sniffing.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8"/>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8"/>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07. SERVER ENGINE STRUCTURE</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Backend Architecture &amp; Service Modules</a:t>
            </a:r>
            <a:endParaRPr/>
          </a:p>
        </p:txBody>
      </p:sp>
      <p:sp>
        <p:nvSpPr>
          <p:cNvPr id="272" name="Google Shape;272;p8"/>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8"/>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8"/>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275" name="Google Shape;275;p8"/>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8 / 25</a:t>
            </a:r>
            <a:endParaRPr/>
          </a:p>
        </p:txBody>
      </p:sp>
      <p:sp>
        <p:nvSpPr>
          <p:cNvPr id="276" name="Google Shape;276;p8"/>
          <p:cNvSpPr/>
          <p:nvPr/>
        </p:nvSpPr>
        <p:spPr>
          <a:xfrm>
            <a:off x="548640" y="146304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8"/>
          <p:cNvSpPr txBox="1"/>
          <p:nvPr/>
        </p:nvSpPr>
        <p:spPr>
          <a:xfrm>
            <a:off x="731520" y="164592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Router Plugin API</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Abstract interfaces accommodating commercial hardware (Netgear, Asus, OpenWrt) via unified methods.</a:t>
            </a:r>
            <a:endParaRPr/>
          </a:p>
        </p:txBody>
      </p:sp>
      <p:sp>
        <p:nvSpPr>
          <p:cNvPr id="278" name="Google Shape;278;p8"/>
          <p:cNvSpPr/>
          <p:nvPr/>
        </p:nvSpPr>
        <p:spPr>
          <a:xfrm>
            <a:off x="3383280" y="1463040"/>
            <a:ext cx="2697480"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8"/>
          <p:cNvSpPr txBox="1"/>
          <p:nvPr/>
        </p:nvSpPr>
        <p:spPr>
          <a:xfrm>
            <a:off x="3566160" y="164592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Discovery Engine</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Continuous ARP and DHCP sniffing identifying newly joined smartphone and laptop devices instantaneously.</a:t>
            </a:r>
            <a:endParaRPr/>
          </a:p>
        </p:txBody>
      </p:sp>
      <p:sp>
        <p:nvSpPr>
          <p:cNvPr id="280" name="Google Shape;280;p8"/>
          <p:cNvSpPr/>
          <p:nvPr/>
        </p:nvSpPr>
        <p:spPr>
          <a:xfrm>
            <a:off x="6217920" y="146304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8"/>
          <p:cNvSpPr txBox="1"/>
          <p:nvPr/>
        </p:nvSpPr>
        <p:spPr>
          <a:xfrm>
            <a:off x="6400800" y="164592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DeviceStateManager</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Thread-safe central state dictionary coordinating client lifecycles, connection histories, and timeouts.</a:t>
            </a:r>
            <a:endParaRPr/>
          </a:p>
        </p:txBody>
      </p:sp>
      <p:sp>
        <p:nvSpPr>
          <p:cNvPr id="282" name="Google Shape;282;p8"/>
          <p:cNvSpPr/>
          <p:nvPr/>
        </p:nvSpPr>
        <p:spPr>
          <a:xfrm>
            <a:off x="9052560" y="1463040"/>
            <a:ext cx="2697480"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8"/>
          <p:cNvSpPr txBox="1"/>
          <p:nvPr/>
        </p:nvSpPr>
        <p:spPr>
          <a:xfrm>
            <a:off x="9235440" y="164592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RSSI Pipeline</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High-frequency signal scraping handler managing jitter, out-of-range packet drops, and attenuation bounds.</a:t>
            </a:r>
            <a:endParaRPr/>
          </a:p>
        </p:txBody>
      </p:sp>
      <p:sp>
        <p:nvSpPr>
          <p:cNvPr id="284" name="Google Shape;284;p8"/>
          <p:cNvSpPr/>
          <p:nvPr/>
        </p:nvSpPr>
        <p:spPr>
          <a:xfrm>
            <a:off x="548640" y="384048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8"/>
          <p:cNvSpPr txBox="1"/>
          <p:nvPr/>
        </p:nvSpPr>
        <p:spPr>
          <a:xfrm>
            <a:off x="731520" y="402336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Distance Engine</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Executes mathematical Path Loss equations and Exponential Moving Average algorithms to infer meter radius.</a:t>
            </a:r>
            <a:endParaRPr/>
          </a:p>
        </p:txBody>
      </p:sp>
      <p:sp>
        <p:nvSpPr>
          <p:cNvPr id="286" name="Google Shape;286;p8"/>
          <p:cNvSpPr/>
          <p:nvPr/>
        </p:nvSpPr>
        <p:spPr>
          <a:xfrm>
            <a:off x="3383280" y="3840480"/>
            <a:ext cx="2697480"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8"/>
          <p:cNvSpPr txBox="1"/>
          <p:nvPr/>
        </p:nvSpPr>
        <p:spPr>
          <a:xfrm>
            <a:off x="3566160" y="402336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Telemetry Hub</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Computes secondary heuristics including Signal-to-Noise Ratio (SNR), AI confidence scores, and motion activity.</a:t>
            </a:r>
            <a:endParaRPr/>
          </a:p>
        </p:txBody>
      </p:sp>
      <p:sp>
        <p:nvSpPr>
          <p:cNvPr id="288" name="Google Shape;288;p8"/>
          <p:cNvSpPr/>
          <p:nvPr/>
        </p:nvSpPr>
        <p:spPr>
          <a:xfrm>
            <a:off x="6217920" y="384048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8"/>
          <p:cNvSpPr txBox="1"/>
          <p:nvPr/>
        </p:nvSpPr>
        <p:spPr>
          <a:xfrm>
            <a:off x="6400800" y="402336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WebSocket Server</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Async broadcast server transmitting real-time JSON state deltas to connected React browser instances.</a:t>
            </a:r>
            <a:endParaRPr/>
          </a:p>
        </p:txBody>
      </p:sp>
      <p:sp>
        <p:nvSpPr>
          <p:cNvPr id="290" name="Google Shape;290;p8"/>
          <p:cNvSpPr/>
          <p:nvPr/>
        </p:nvSpPr>
        <p:spPr>
          <a:xfrm>
            <a:off x="9052560" y="3840480"/>
            <a:ext cx="2697480"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8"/>
          <p:cNvSpPr txBox="1"/>
          <p:nvPr/>
        </p:nvSpPr>
        <p:spPr>
          <a:xfrm>
            <a:off x="9235440" y="402336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Synchronization Core</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Ensures zero packet duplication, graceful reconnection handling, and immediate purge of stale offline avatars.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9"/>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9"/>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08. CLIENT GUI STRUCTURE</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Frontend Architecture &amp; 3D Canvas</a:t>
            </a:r>
            <a:endParaRPr/>
          </a:p>
        </p:txBody>
      </p:sp>
      <p:sp>
        <p:nvSpPr>
          <p:cNvPr id="299" name="Google Shape;299;p9"/>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9"/>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9"/>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302" name="Google Shape;302;p9"/>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9 / 25</a:t>
            </a:r>
            <a:endParaRPr/>
          </a:p>
        </p:txBody>
      </p:sp>
      <p:sp>
        <p:nvSpPr>
          <p:cNvPr id="303" name="Google Shape;303;p9"/>
          <p:cNvSpPr/>
          <p:nvPr/>
        </p:nvSpPr>
        <p:spPr>
          <a:xfrm>
            <a:off x="548640" y="1463040"/>
            <a:ext cx="530352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9"/>
          <p:cNvSpPr txBox="1"/>
          <p:nvPr/>
        </p:nvSpPr>
        <p:spPr>
          <a:xfrm>
            <a:off x="731520" y="1645920"/>
            <a:ext cx="493776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React &amp; Vite Realtime Dashboard</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Reactive State Framework: </a:t>
            </a:r>
            <a:r>
              <a:rPr lang="en-US" sz="1300">
                <a:solidFill>
                  <a:srgbClr val="DCE6F2"/>
                </a:solidFill>
                <a:latin typeface="Quattrocento Sans"/>
                <a:ea typeface="Quattrocento Sans"/>
                <a:cs typeface="Quattrocento Sans"/>
                <a:sym typeface="Quattrocento Sans"/>
              </a:rPr>
              <a:t>Custom React hooks consume asynchronous WebSocket streams to update interface cards without page reloading.</a:t>
            </a:r>
            <a:endParaRPr/>
          </a:p>
          <a:p>
            <a:pPr indent="0" lvl="0" marL="0" marR="0" rtl="0" algn="l">
              <a:spcBef>
                <a:spcPts val="1000"/>
              </a:spcBef>
              <a:spcAft>
                <a:spcPts val="0"/>
              </a:spcAft>
              <a:buNone/>
            </a:pPr>
            <a:r>
              <a:rPr b="1" lang="en-US" sz="1300">
                <a:solidFill>
                  <a:srgbClr val="38DAEC"/>
                </a:solidFill>
                <a:latin typeface="Quattrocento Sans"/>
                <a:ea typeface="Quattrocento Sans"/>
                <a:cs typeface="Quattrocento Sans"/>
                <a:sym typeface="Quattrocento Sans"/>
              </a:rPr>
              <a:t>•  Enterprise Dark Theme: </a:t>
            </a:r>
            <a:r>
              <a:rPr lang="en-US" sz="1300">
                <a:solidFill>
                  <a:srgbClr val="DCE6F2"/>
                </a:solidFill>
                <a:latin typeface="Quattrocento Sans"/>
                <a:ea typeface="Quattrocento Sans"/>
                <a:cs typeface="Quattrocento Sans"/>
                <a:sym typeface="Quattrocento Sans"/>
              </a:rPr>
              <a:t>Tailored dark-blue aesthetic styled with high-contrast neon accents, promoting visual readability during extended research trials.</a:t>
            </a:r>
            <a:endParaRPr/>
          </a:p>
        </p:txBody>
      </p:sp>
      <p:sp>
        <p:nvSpPr>
          <p:cNvPr id="305" name="Google Shape;305;p9"/>
          <p:cNvSpPr/>
          <p:nvPr/>
        </p:nvSpPr>
        <p:spPr>
          <a:xfrm>
            <a:off x="6217920" y="1463040"/>
            <a:ext cx="5394960"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9"/>
          <p:cNvSpPr txBox="1"/>
          <p:nvPr/>
        </p:nvSpPr>
        <p:spPr>
          <a:xfrm>
            <a:off x="6400800" y="1645920"/>
            <a:ext cx="502920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Three.js Scene Renderer</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GPU-Accelerated Virtual Lab: </a:t>
            </a:r>
            <a:r>
              <a:rPr lang="en-US" sz="1300">
                <a:solidFill>
                  <a:srgbClr val="DCE6F2"/>
                </a:solidFill>
                <a:latin typeface="Quattrocento Sans"/>
                <a:ea typeface="Quattrocento Sans"/>
                <a:cs typeface="Quattrocento Sans"/>
                <a:sym typeface="Quattrocento Sans"/>
              </a:rPr>
              <a:t>Renders an interactive 3D laboratory room complete with floor boundaries, router node anchor, and spatial grid.</a:t>
            </a:r>
            <a:endParaRPr/>
          </a:p>
          <a:p>
            <a:pPr indent="0" lvl="0" marL="0" marR="0" rtl="0" algn="l">
              <a:spcBef>
                <a:spcPts val="1000"/>
              </a:spcBef>
              <a:spcAft>
                <a:spcPts val="0"/>
              </a:spcAft>
              <a:buNone/>
            </a:pPr>
            <a:r>
              <a:rPr b="1" lang="en-US" sz="1300">
                <a:solidFill>
                  <a:srgbClr val="38DAEC"/>
                </a:solidFill>
                <a:latin typeface="Quattrocento Sans"/>
                <a:ea typeface="Quattrocento Sans"/>
                <a:cs typeface="Quattrocento Sans"/>
                <a:sym typeface="Quattrocento Sans"/>
              </a:rPr>
              <a:t>•  Camera Controls &amp; Raycasting: </a:t>
            </a:r>
            <a:r>
              <a:rPr lang="en-US" sz="1300">
                <a:solidFill>
                  <a:srgbClr val="DCE6F2"/>
                </a:solidFill>
                <a:latin typeface="Quattrocento Sans"/>
                <a:ea typeface="Quattrocento Sans"/>
                <a:cs typeface="Quattrocento Sans"/>
                <a:sym typeface="Quattrocento Sans"/>
              </a:rPr>
              <a:t>Offers free-fly orbit zooming, interactive pan controls, and mouse-click selection of virtual avatars.</a:t>
            </a:r>
            <a:endParaRPr/>
          </a:p>
        </p:txBody>
      </p:sp>
      <p:sp>
        <p:nvSpPr>
          <p:cNvPr id="307" name="Google Shape;307;p9"/>
          <p:cNvSpPr/>
          <p:nvPr/>
        </p:nvSpPr>
        <p:spPr>
          <a:xfrm>
            <a:off x="548640" y="3977639"/>
            <a:ext cx="5303520"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9"/>
          <p:cNvSpPr txBox="1"/>
          <p:nvPr/>
        </p:nvSpPr>
        <p:spPr>
          <a:xfrm>
            <a:off x="731520" y="4160519"/>
            <a:ext cx="493776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Avatar Manager Engine</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Dynamic 3D Lifecycle Control: </a:t>
            </a:r>
            <a:r>
              <a:rPr lang="en-US" sz="1300">
                <a:solidFill>
                  <a:srgbClr val="DCE6F2"/>
                </a:solidFill>
                <a:latin typeface="Quattrocento Sans"/>
                <a:ea typeface="Quattrocento Sans"/>
                <a:cs typeface="Quattrocento Sans"/>
                <a:sym typeface="Quattrocento Sans"/>
              </a:rPr>
              <a:t>Automatically instantiates humanoid virtual avatars and places them on computed Euclidean radii upon client join.</a:t>
            </a:r>
            <a:endParaRPr/>
          </a:p>
          <a:p>
            <a:pPr indent="0" lvl="0" marL="0" marR="0" rtl="0" algn="l">
              <a:spcBef>
                <a:spcPts val="1000"/>
              </a:spcBef>
              <a:spcAft>
                <a:spcPts val="0"/>
              </a:spcAft>
              <a:buNone/>
            </a:pPr>
            <a:r>
              <a:rPr b="1" lang="en-US" sz="1300">
                <a:solidFill>
                  <a:srgbClr val="38DAEC"/>
                </a:solidFill>
                <a:latin typeface="Quattrocento Sans"/>
                <a:ea typeface="Quattrocento Sans"/>
                <a:cs typeface="Quattrocento Sans"/>
                <a:sym typeface="Quattrocento Sans"/>
              </a:rPr>
              <a:t>•  Visual Distance Rings: </a:t>
            </a:r>
            <a:r>
              <a:rPr lang="en-US" sz="1300">
                <a:solidFill>
                  <a:srgbClr val="DCE6F2"/>
                </a:solidFill>
                <a:latin typeface="Quattrocento Sans"/>
                <a:ea typeface="Quattrocento Sans"/>
                <a:cs typeface="Quattrocento Sans"/>
                <a:sym typeface="Quattrocento Sans"/>
              </a:rPr>
              <a:t>Generates glowing, concentric radar rings indicating real-time signal bounds and spatial confidence zones.</a:t>
            </a:r>
            <a:endParaRPr/>
          </a:p>
        </p:txBody>
      </p:sp>
      <p:sp>
        <p:nvSpPr>
          <p:cNvPr id="309" name="Google Shape;309;p9"/>
          <p:cNvSpPr/>
          <p:nvPr/>
        </p:nvSpPr>
        <p:spPr>
          <a:xfrm>
            <a:off x="6217920" y="3977639"/>
            <a:ext cx="539496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9"/>
          <p:cNvSpPr txBox="1"/>
          <p:nvPr/>
        </p:nvSpPr>
        <p:spPr>
          <a:xfrm>
            <a:off x="6400800" y="4160519"/>
            <a:ext cx="502920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Telemetry &amp; Analytics Panel</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Live Signal History Charting: </a:t>
            </a:r>
            <a:r>
              <a:rPr lang="en-US" sz="1300">
                <a:solidFill>
                  <a:srgbClr val="DCE6F2"/>
                </a:solidFill>
                <a:latin typeface="Quattrocento Sans"/>
                <a:ea typeface="Quattrocento Sans"/>
                <a:cs typeface="Quattrocento Sans"/>
                <a:sym typeface="Quattrocento Sans"/>
              </a:rPr>
              <a:t>Plots real-time RSSI attenuation curves, signal stability margins, and multi-user comparative trajectories.</a:t>
            </a:r>
            <a:endParaRPr/>
          </a:p>
          <a:p>
            <a:pPr indent="0" lvl="0" marL="0" marR="0" rtl="0" algn="l">
              <a:spcBef>
                <a:spcPts val="1000"/>
              </a:spcBef>
              <a:spcAft>
                <a:spcPts val="0"/>
              </a:spcAft>
              <a:buNone/>
            </a:pPr>
            <a:r>
              <a:rPr b="1" lang="en-US" sz="1300">
                <a:solidFill>
                  <a:srgbClr val="38DAEC"/>
                </a:solidFill>
                <a:latin typeface="Quattrocento Sans"/>
                <a:ea typeface="Quattrocento Sans"/>
                <a:cs typeface="Quattrocento Sans"/>
                <a:sym typeface="Quattrocento Sans"/>
              </a:rPr>
              <a:t>•  AI &amp; Motion Heuristics UI: </a:t>
            </a:r>
            <a:r>
              <a:rPr lang="en-US" sz="1300">
                <a:solidFill>
                  <a:srgbClr val="DCE6F2"/>
                </a:solidFill>
                <a:latin typeface="Quattrocento Sans"/>
                <a:ea typeface="Quattrocento Sans"/>
                <a:cs typeface="Quattrocento Sans"/>
                <a:sym typeface="Quattrocento Sans"/>
              </a:rPr>
              <a:t>Displays real-time activity metrics classifying clients as Static, Walking, or Out-of-Range based on variance.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0"/>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10"/>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09. TELEMETRY EXECUTION PIPELINE</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Live Real-Time Data Flow Pipeline</a:t>
            </a:r>
            <a:endParaRPr/>
          </a:p>
        </p:txBody>
      </p:sp>
      <p:sp>
        <p:nvSpPr>
          <p:cNvPr id="318" name="Google Shape;318;p10"/>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10"/>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0"/>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321" name="Google Shape;321;p10"/>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10 / 25</a:t>
            </a:r>
            <a:endParaRPr/>
          </a:p>
        </p:txBody>
      </p:sp>
      <p:sp>
        <p:nvSpPr>
          <p:cNvPr id="322" name="Google Shape;322;p10"/>
          <p:cNvSpPr/>
          <p:nvPr/>
        </p:nvSpPr>
        <p:spPr>
          <a:xfrm>
            <a:off x="548640" y="146304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1. Wireless Router</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Captures ambient user RF signals</a:t>
            </a:r>
            <a:endParaRPr/>
          </a:p>
        </p:txBody>
      </p:sp>
      <p:sp>
        <p:nvSpPr>
          <p:cNvPr id="323" name="Google Shape;323;p10"/>
          <p:cNvSpPr txBox="1"/>
          <p:nvPr/>
        </p:nvSpPr>
        <p:spPr>
          <a:xfrm>
            <a:off x="3082213" y="146304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324" name="Google Shape;324;p10"/>
          <p:cNvSpPr/>
          <p:nvPr/>
        </p:nvSpPr>
        <p:spPr>
          <a:xfrm>
            <a:off x="3402253" y="146304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2. Connected Client</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Smartphone / Laptop transmission</a:t>
            </a:r>
            <a:endParaRPr/>
          </a:p>
        </p:txBody>
      </p:sp>
      <p:sp>
        <p:nvSpPr>
          <p:cNvPr id="325" name="Google Shape;325;p10"/>
          <p:cNvSpPr txBox="1"/>
          <p:nvPr/>
        </p:nvSpPr>
        <p:spPr>
          <a:xfrm>
            <a:off x="5935827" y="146304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326" name="Google Shape;326;p10"/>
          <p:cNvSpPr/>
          <p:nvPr/>
        </p:nvSpPr>
        <p:spPr>
          <a:xfrm>
            <a:off x="6255867" y="146304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3. Raw RSSI Harvesting</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Periodic dBm signal polling</a:t>
            </a:r>
            <a:endParaRPr/>
          </a:p>
        </p:txBody>
      </p:sp>
      <p:sp>
        <p:nvSpPr>
          <p:cNvPr id="327" name="Google Shape;327;p10"/>
          <p:cNvSpPr txBox="1"/>
          <p:nvPr/>
        </p:nvSpPr>
        <p:spPr>
          <a:xfrm>
            <a:off x="8789441" y="146304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328" name="Google Shape;328;p10"/>
          <p:cNvSpPr/>
          <p:nvPr/>
        </p:nvSpPr>
        <p:spPr>
          <a:xfrm>
            <a:off x="9109481" y="146304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4. Backend Server</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Asynchronous FastAPI engine</a:t>
            </a:r>
            <a:endParaRPr/>
          </a:p>
        </p:txBody>
      </p:sp>
      <p:sp>
        <p:nvSpPr>
          <p:cNvPr id="329" name="Google Shape;329;p10"/>
          <p:cNvSpPr/>
          <p:nvPr/>
        </p:nvSpPr>
        <p:spPr>
          <a:xfrm>
            <a:off x="548640" y="315468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5. Distance Model</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Log-Distance EMA calculation</a:t>
            </a:r>
            <a:endParaRPr/>
          </a:p>
        </p:txBody>
      </p:sp>
      <p:sp>
        <p:nvSpPr>
          <p:cNvPr id="330" name="Google Shape;330;p10"/>
          <p:cNvSpPr txBox="1"/>
          <p:nvPr/>
        </p:nvSpPr>
        <p:spPr>
          <a:xfrm>
            <a:off x="3082213" y="315468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331" name="Google Shape;331;p10"/>
          <p:cNvSpPr/>
          <p:nvPr/>
        </p:nvSpPr>
        <p:spPr>
          <a:xfrm>
            <a:off x="3402253" y="315468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6. WebSocket Stream</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Real-time TCP JSON push</a:t>
            </a:r>
            <a:endParaRPr/>
          </a:p>
        </p:txBody>
      </p:sp>
      <p:sp>
        <p:nvSpPr>
          <p:cNvPr id="332" name="Google Shape;332;p10"/>
          <p:cNvSpPr txBox="1"/>
          <p:nvPr/>
        </p:nvSpPr>
        <p:spPr>
          <a:xfrm>
            <a:off x="5935827" y="315468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333" name="Google Shape;333;p10"/>
          <p:cNvSpPr/>
          <p:nvPr/>
        </p:nvSpPr>
        <p:spPr>
          <a:xfrm>
            <a:off x="6255867" y="315468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7. React UI State</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Client component reconciliation</a:t>
            </a:r>
            <a:endParaRPr/>
          </a:p>
        </p:txBody>
      </p:sp>
      <p:sp>
        <p:nvSpPr>
          <p:cNvPr id="334" name="Google Shape;334;p10"/>
          <p:cNvSpPr txBox="1"/>
          <p:nvPr/>
        </p:nvSpPr>
        <p:spPr>
          <a:xfrm>
            <a:off x="8789441" y="315468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335" name="Google Shape;335;p10"/>
          <p:cNvSpPr/>
          <p:nvPr/>
        </p:nvSpPr>
        <p:spPr>
          <a:xfrm>
            <a:off x="9109481" y="315468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8. Three.js Engine</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3D scene geometry binding</a:t>
            </a:r>
            <a:endParaRPr/>
          </a:p>
        </p:txBody>
      </p:sp>
      <p:sp>
        <p:nvSpPr>
          <p:cNvPr id="336" name="Google Shape;336;p10"/>
          <p:cNvSpPr/>
          <p:nvPr/>
        </p:nvSpPr>
        <p:spPr>
          <a:xfrm>
            <a:off x="548640" y="484632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9. Digital Twin Lab</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Virtual space synchronization</a:t>
            </a:r>
            <a:endParaRPr/>
          </a:p>
        </p:txBody>
      </p:sp>
      <p:sp>
        <p:nvSpPr>
          <p:cNvPr id="337" name="Google Shape;337;p10"/>
          <p:cNvSpPr txBox="1"/>
          <p:nvPr/>
        </p:nvSpPr>
        <p:spPr>
          <a:xfrm>
            <a:off x="3082213" y="484632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338" name="Google Shape;338;p10"/>
          <p:cNvSpPr/>
          <p:nvPr/>
        </p:nvSpPr>
        <p:spPr>
          <a:xfrm>
            <a:off x="3402253" y="484632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10. Avatar Repos</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Radial position interpolation</a:t>
            </a:r>
            <a:endParaRPr/>
          </a:p>
        </p:txBody>
      </p:sp>
      <p:sp>
        <p:nvSpPr>
          <p:cNvPr id="339" name="Google Shape;339;p10"/>
          <p:cNvSpPr txBox="1"/>
          <p:nvPr/>
        </p:nvSpPr>
        <p:spPr>
          <a:xfrm>
            <a:off x="5935827" y="484632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340" name="Google Shape;340;p10"/>
          <p:cNvSpPr/>
          <p:nvPr/>
        </p:nvSpPr>
        <p:spPr>
          <a:xfrm>
            <a:off x="6255867" y="484632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11. Telemetry Plot</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Live UI line chart rendering</a:t>
            </a:r>
            <a:endParaRPr/>
          </a:p>
        </p:txBody>
      </p:sp>
      <p:sp>
        <p:nvSpPr>
          <p:cNvPr id="341" name="Google Shape;341;p10"/>
          <p:cNvSpPr txBox="1"/>
          <p:nvPr/>
        </p:nvSpPr>
        <p:spPr>
          <a:xfrm>
            <a:off x="8789441" y="4846320"/>
            <a:ext cx="320040" cy="128016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000">
                <a:solidFill>
                  <a:srgbClr val="00EBA0"/>
                </a:solidFill>
                <a:latin typeface="Quattrocento Sans"/>
                <a:ea typeface="Quattrocento Sans"/>
                <a:cs typeface="Quattrocento Sans"/>
                <a:sym typeface="Quattrocento Sans"/>
              </a:rPr>
              <a:t>➔</a:t>
            </a:r>
            <a:endParaRPr/>
          </a:p>
        </p:txBody>
      </p:sp>
      <p:sp>
        <p:nvSpPr>
          <p:cNvPr id="342" name="Google Shape;342;p10"/>
          <p:cNvSpPr/>
          <p:nvPr/>
        </p:nvSpPr>
        <p:spPr>
          <a:xfrm>
            <a:off x="9109481" y="4846320"/>
            <a:ext cx="2533573" cy="128016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300">
                <a:solidFill>
                  <a:srgbClr val="FFFFFF"/>
                </a:solidFill>
                <a:latin typeface="Quattrocento Sans"/>
                <a:ea typeface="Quattrocento Sans"/>
                <a:cs typeface="Quattrocento Sans"/>
                <a:sym typeface="Quattrocento Sans"/>
              </a:rPr>
              <a:t>🛡️</a:t>
            </a:r>
            <a:br>
              <a:rPr b="1" lang="en-US" sz="1300">
                <a:solidFill>
                  <a:srgbClr val="FFFFFF"/>
                </a:solidFill>
                <a:latin typeface="Quattrocento Sans"/>
                <a:ea typeface="Quattrocento Sans"/>
                <a:cs typeface="Quattrocento Sans"/>
                <a:sym typeface="Quattrocento Sans"/>
              </a:rPr>
            </a:br>
            <a:r>
              <a:rPr b="1" lang="en-US" sz="1300">
                <a:solidFill>
                  <a:srgbClr val="FFFFFF"/>
                </a:solidFill>
                <a:latin typeface="Quattrocento Sans"/>
                <a:ea typeface="Quattrocento Sans"/>
                <a:cs typeface="Quattrocento Sans"/>
                <a:sym typeface="Quattrocento Sans"/>
              </a:rPr>
              <a:t>12. Health Monitor</a:t>
            </a:r>
            <a:endParaRPr/>
          </a:p>
          <a:p>
            <a:pPr indent="0" lvl="0" marL="0" marR="0" rtl="0" algn="ctr">
              <a:spcBef>
                <a:spcPts val="0"/>
              </a:spcBef>
              <a:spcAft>
                <a:spcPts val="0"/>
              </a:spcAft>
              <a:buNone/>
            </a:pPr>
            <a:r>
              <a:rPr lang="en-US" sz="1050">
                <a:solidFill>
                  <a:srgbClr val="38DAEC"/>
                </a:solidFill>
                <a:latin typeface="Quattrocento Sans"/>
                <a:ea typeface="Quattrocento Sans"/>
                <a:cs typeface="Quattrocento Sans"/>
                <a:sym typeface="Quattrocento Sans"/>
              </a:rPr>
              <a:t>Continuous network Quality of Service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11"/>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11"/>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10. SIGNAL PROCESSING &amp; LIMITATIONS</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Mathematical Distance Estimation &amp; Scientific Boundaries</a:t>
            </a:r>
            <a:endParaRPr/>
          </a:p>
        </p:txBody>
      </p:sp>
      <p:sp>
        <p:nvSpPr>
          <p:cNvPr id="350" name="Google Shape;350;p11"/>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11"/>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1"/>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353" name="Google Shape;353;p11"/>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11 / 25</a:t>
            </a:r>
            <a:endParaRPr/>
          </a:p>
        </p:txBody>
      </p:sp>
      <p:sp>
        <p:nvSpPr>
          <p:cNvPr id="354" name="Google Shape;354;p11"/>
          <p:cNvSpPr/>
          <p:nvPr/>
        </p:nvSpPr>
        <p:spPr>
          <a:xfrm>
            <a:off x="548640" y="1463040"/>
            <a:ext cx="5486400" cy="466344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1"/>
          <p:cNvSpPr txBox="1"/>
          <p:nvPr/>
        </p:nvSpPr>
        <p:spPr>
          <a:xfrm>
            <a:off x="731520" y="1645920"/>
            <a:ext cx="512064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Quattrocento Sans"/>
                <a:ea typeface="Quattrocento Sans"/>
                <a:cs typeface="Quattrocento Sans"/>
                <a:sym typeface="Quattrocento Sans"/>
              </a:rPr>
              <a:t>📐 Log-Distance Path Loss &amp; EMA Filter</a:t>
            </a:r>
            <a:endParaRPr/>
          </a:p>
          <a:p>
            <a:pPr indent="0" lvl="0" marL="0" marR="0" rtl="0" algn="l">
              <a:spcBef>
                <a:spcPts val="1400"/>
              </a:spcBef>
              <a:spcAft>
                <a:spcPts val="0"/>
              </a:spcAft>
              <a:buNone/>
            </a:pPr>
            <a:r>
              <a:rPr b="1" lang="en-US" sz="1200">
                <a:solidFill>
                  <a:srgbClr val="38DAEC"/>
                </a:solidFill>
                <a:latin typeface="Quattrocento Sans"/>
                <a:ea typeface="Quattrocento Sans"/>
                <a:cs typeface="Quattrocento Sans"/>
                <a:sym typeface="Quattrocento Sans"/>
              </a:rPr>
              <a:t>•  Log-Distance Path Loss Formula: </a:t>
            </a:r>
            <a:r>
              <a:rPr lang="en-US" sz="1200">
                <a:solidFill>
                  <a:srgbClr val="DCE6F2"/>
                </a:solidFill>
                <a:latin typeface="Quattrocento Sans"/>
                <a:ea typeface="Quattrocento Sans"/>
                <a:cs typeface="Quattrocento Sans"/>
                <a:sym typeface="Quattrocento Sans"/>
              </a:rPr>
              <a:t>Relates RSSI signal decay logarithmically to distance from Access Point:</a:t>
            </a:r>
            <a:br>
              <a:rPr lang="en-US" sz="1200">
                <a:solidFill>
                  <a:srgbClr val="DCE6F2"/>
                </a:solidFill>
                <a:latin typeface="Quattrocento Sans"/>
                <a:ea typeface="Quattrocento Sans"/>
                <a:cs typeface="Quattrocento Sans"/>
                <a:sym typeface="Quattrocento Sans"/>
              </a:rPr>
            </a:br>
            <a:r>
              <a:rPr lang="en-US" sz="1200">
                <a:solidFill>
                  <a:srgbClr val="DCE6F2"/>
                </a:solidFill>
                <a:latin typeface="Quattrocento Sans"/>
                <a:ea typeface="Quattrocento Sans"/>
                <a:cs typeface="Quattrocento Sans"/>
                <a:sym typeface="Quattrocento Sans"/>
              </a:rPr>
              <a:t>   RSSI(d) = RSSI(d₀) - 10 · n · log₁₀(d / d₀) + X_σ</a:t>
            </a:r>
            <a:endParaRPr/>
          </a:p>
          <a:p>
            <a:pPr indent="0" lvl="0" marL="0" marR="0" rtl="0" algn="l">
              <a:spcBef>
                <a:spcPts val="1000"/>
              </a:spcBef>
              <a:spcAft>
                <a:spcPts val="0"/>
              </a:spcAft>
              <a:buNone/>
            </a:pPr>
            <a:r>
              <a:rPr b="1" lang="en-US" sz="1200">
                <a:solidFill>
                  <a:srgbClr val="38DAEC"/>
                </a:solidFill>
                <a:latin typeface="Quattrocento Sans"/>
                <a:ea typeface="Quattrocento Sans"/>
                <a:cs typeface="Quattrocento Sans"/>
                <a:sym typeface="Quattrocento Sans"/>
              </a:rPr>
              <a:t>•  Parameter Definitions: </a:t>
            </a:r>
            <a:r>
              <a:rPr lang="en-US" sz="1200">
                <a:solidFill>
                  <a:srgbClr val="DCE6F2"/>
                </a:solidFill>
                <a:latin typeface="Quattrocento Sans"/>
                <a:ea typeface="Quattrocento Sans"/>
                <a:cs typeface="Quattrocento Sans"/>
                <a:sym typeface="Quattrocento Sans"/>
              </a:rPr>
              <a:t>• RSSI(d): Measured attenuation power at distance d in dBm.</a:t>
            </a:r>
            <a:br>
              <a:rPr lang="en-US" sz="1200">
                <a:solidFill>
                  <a:srgbClr val="DCE6F2"/>
                </a:solidFill>
                <a:latin typeface="Quattrocento Sans"/>
                <a:ea typeface="Quattrocento Sans"/>
                <a:cs typeface="Quattrocento Sans"/>
                <a:sym typeface="Quattrocento Sans"/>
              </a:rPr>
            </a:br>
            <a:r>
              <a:rPr lang="en-US" sz="1200">
                <a:solidFill>
                  <a:srgbClr val="DCE6F2"/>
                </a:solidFill>
                <a:latin typeface="Quattrocento Sans"/>
                <a:ea typeface="Quattrocento Sans"/>
                <a:cs typeface="Quattrocento Sans"/>
                <a:sym typeface="Quattrocento Sans"/>
              </a:rPr>
              <a:t>• RSSI(d₀): Reference signal strength at 1 meter (typically -35 to -45 dBm).</a:t>
            </a:r>
            <a:br>
              <a:rPr lang="en-US" sz="1200">
                <a:solidFill>
                  <a:srgbClr val="DCE6F2"/>
                </a:solidFill>
                <a:latin typeface="Quattrocento Sans"/>
                <a:ea typeface="Quattrocento Sans"/>
                <a:cs typeface="Quattrocento Sans"/>
                <a:sym typeface="Quattrocento Sans"/>
              </a:rPr>
            </a:br>
            <a:r>
              <a:rPr lang="en-US" sz="1200">
                <a:solidFill>
                  <a:srgbClr val="DCE6F2"/>
                </a:solidFill>
                <a:latin typeface="Quattrocento Sans"/>
                <a:ea typeface="Quattrocento Sans"/>
                <a:cs typeface="Quattrocento Sans"/>
                <a:sym typeface="Quattrocento Sans"/>
              </a:rPr>
              <a:t>• n: Environmental path loss exponent (2.0 in free space, 2.5–3.5 indoors).</a:t>
            </a:r>
            <a:br>
              <a:rPr lang="en-US" sz="1200">
                <a:solidFill>
                  <a:srgbClr val="DCE6F2"/>
                </a:solidFill>
                <a:latin typeface="Quattrocento Sans"/>
                <a:ea typeface="Quattrocento Sans"/>
                <a:cs typeface="Quattrocento Sans"/>
                <a:sym typeface="Quattrocento Sans"/>
              </a:rPr>
            </a:br>
            <a:r>
              <a:rPr lang="en-US" sz="1200">
                <a:solidFill>
                  <a:srgbClr val="DCE6F2"/>
                </a:solidFill>
                <a:latin typeface="Quattrocento Sans"/>
                <a:ea typeface="Quattrocento Sans"/>
                <a:cs typeface="Quattrocento Sans"/>
                <a:sym typeface="Quattrocento Sans"/>
              </a:rPr>
              <a:t>• X_σ: Zero-mean Gaussian environmental fading random variable.</a:t>
            </a:r>
            <a:endParaRPr/>
          </a:p>
          <a:p>
            <a:pPr indent="0" lvl="0" marL="0" marR="0" rtl="0" algn="l">
              <a:spcBef>
                <a:spcPts val="1000"/>
              </a:spcBef>
              <a:spcAft>
                <a:spcPts val="0"/>
              </a:spcAft>
              <a:buNone/>
            </a:pPr>
            <a:r>
              <a:rPr b="1" lang="en-US" sz="1200">
                <a:solidFill>
                  <a:srgbClr val="38DAEC"/>
                </a:solidFill>
                <a:latin typeface="Quattrocento Sans"/>
                <a:ea typeface="Quattrocento Sans"/>
                <a:cs typeface="Quattrocento Sans"/>
                <a:sym typeface="Quattrocento Sans"/>
              </a:rPr>
              <a:t>•  Exponential Moving Average (EMA): </a:t>
            </a:r>
            <a:r>
              <a:rPr lang="en-US" sz="1200">
                <a:solidFill>
                  <a:srgbClr val="DCE6F2"/>
                </a:solidFill>
                <a:latin typeface="Quattrocento Sans"/>
                <a:ea typeface="Quattrocento Sans"/>
                <a:cs typeface="Quattrocento Sans"/>
                <a:sym typeface="Quattrocento Sans"/>
              </a:rPr>
              <a:t>Dampens severe signal spikes caused by room interference and walking obstacles:</a:t>
            </a:r>
            <a:br>
              <a:rPr lang="en-US" sz="1200">
                <a:solidFill>
                  <a:srgbClr val="DCE6F2"/>
                </a:solidFill>
                <a:latin typeface="Quattrocento Sans"/>
                <a:ea typeface="Quattrocento Sans"/>
                <a:cs typeface="Quattrocento Sans"/>
                <a:sym typeface="Quattrocento Sans"/>
              </a:rPr>
            </a:br>
            <a:r>
              <a:rPr lang="en-US" sz="1200">
                <a:solidFill>
                  <a:srgbClr val="DCE6F2"/>
                </a:solidFill>
                <a:latin typeface="Quattrocento Sans"/>
                <a:ea typeface="Quattrocento Sans"/>
                <a:cs typeface="Quattrocento Sans"/>
                <a:sym typeface="Quattrocento Sans"/>
              </a:rPr>
              <a:t>   RSSI_smooth(t) = α · RSSI_raw(t) + (1 - α) · RSSI_smooth(t-1)</a:t>
            </a:r>
            <a:endParaRPr/>
          </a:p>
          <a:p>
            <a:pPr indent="0" lvl="0" marL="0" marR="0" rtl="0" algn="l">
              <a:spcBef>
                <a:spcPts val="1000"/>
              </a:spcBef>
              <a:spcAft>
                <a:spcPts val="0"/>
              </a:spcAft>
              <a:buNone/>
            </a:pPr>
            <a:r>
              <a:rPr b="1" lang="en-US" sz="1200">
                <a:solidFill>
                  <a:srgbClr val="38DAEC"/>
                </a:solidFill>
                <a:latin typeface="Quattrocento Sans"/>
                <a:ea typeface="Quattrocento Sans"/>
                <a:cs typeface="Quattrocento Sans"/>
                <a:sym typeface="Quattrocento Sans"/>
              </a:rPr>
              <a:t>•  Noise Suppression: </a:t>
            </a:r>
            <a:r>
              <a:rPr lang="en-US" sz="1200">
                <a:solidFill>
                  <a:srgbClr val="DCE6F2"/>
                </a:solidFill>
                <a:latin typeface="Quattrocento Sans"/>
                <a:ea typeface="Quattrocento Sans"/>
                <a:cs typeface="Quattrocento Sans"/>
                <a:sym typeface="Quattrocento Sans"/>
              </a:rPr>
              <a:t>By setting α ∈ [0.2, 0.4], high-frequency multipath reflections are systematically suppressed without introducing heavy rendering lag.</a:t>
            </a:r>
            <a:endParaRPr/>
          </a:p>
        </p:txBody>
      </p:sp>
      <p:sp>
        <p:nvSpPr>
          <p:cNvPr id="356" name="Google Shape;356;p11"/>
          <p:cNvSpPr/>
          <p:nvPr/>
        </p:nvSpPr>
        <p:spPr>
          <a:xfrm>
            <a:off x="6309360" y="1463040"/>
            <a:ext cx="5303520" cy="4663440"/>
          </a:xfrm>
          <a:prstGeom prst="roundRect">
            <a:avLst>
              <a:gd fmla="val 16667" name="adj"/>
            </a:avLst>
          </a:prstGeom>
          <a:solidFill>
            <a:srgbClr val="26162A"/>
          </a:solidFill>
          <a:ln cap="flat" cmpd="sng" w="19050">
            <a:solidFill>
              <a:srgbClr val="FF5F6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11"/>
          <p:cNvSpPr txBox="1"/>
          <p:nvPr/>
        </p:nvSpPr>
        <p:spPr>
          <a:xfrm>
            <a:off x="6492240" y="1645920"/>
            <a:ext cx="493776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 Scientific Limitations: Estimated vs. Exact</a:t>
            </a:r>
            <a:endParaRPr/>
          </a:p>
          <a:p>
            <a:pPr indent="0" lvl="0" marL="0" marR="0" rtl="0" algn="l">
              <a:spcBef>
                <a:spcPts val="1400"/>
              </a:spcBef>
              <a:spcAft>
                <a:spcPts val="0"/>
              </a:spcAft>
              <a:buNone/>
            </a:pPr>
            <a:r>
              <a:rPr b="1" lang="en-US" sz="1200">
                <a:solidFill>
                  <a:srgbClr val="38DAEC"/>
                </a:solidFill>
                <a:latin typeface="Quattrocento Sans"/>
                <a:ea typeface="Quattrocento Sans"/>
                <a:cs typeface="Quattrocento Sans"/>
                <a:sym typeface="Quattrocento Sans"/>
              </a:rPr>
              <a:t>•  CRITICAL ACADEMIC DISTINCTION: </a:t>
            </a:r>
            <a:r>
              <a:rPr lang="en-US" sz="1200">
                <a:solidFill>
                  <a:srgbClr val="DCE6F2"/>
                </a:solidFill>
                <a:latin typeface="Quattrocento Sans"/>
                <a:ea typeface="Quattrocento Sans"/>
                <a:cs typeface="Quattrocento Sans"/>
                <a:sym typeface="Quattrocento Sans"/>
              </a:rPr>
              <a:t>This system delivers an ESTIMATED RADIAL DISTANCE, NOT an EXACT directional Cartesian coordinates (X, Y).</a:t>
            </a:r>
            <a:endParaRPr/>
          </a:p>
          <a:p>
            <a:pPr indent="0" lvl="0" marL="0" marR="0" rtl="0" algn="l">
              <a:spcBef>
                <a:spcPts val="1000"/>
              </a:spcBef>
              <a:spcAft>
                <a:spcPts val="0"/>
              </a:spcAft>
              <a:buNone/>
            </a:pPr>
            <a:r>
              <a:rPr b="1" lang="en-US" sz="1200">
                <a:solidFill>
                  <a:srgbClr val="38DAEC"/>
                </a:solidFill>
                <a:latin typeface="Quattrocento Sans"/>
                <a:ea typeface="Quattrocento Sans"/>
                <a:cs typeface="Quattrocento Sans"/>
                <a:sym typeface="Quattrocento Sans"/>
              </a:rPr>
              <a:t>•  Single-Router Geometric Constraints: </a:t>
            </a:r>
            <a:r>
              <a:rPr lang="en-US" sz="1200">
                <a:solidFill>
                  <a:srgbClr val="DCE6F2"/>
                </a:solidFill>
                <a:latin typeface="Quattrocento Sans"/>
                <a:ea typeface="Quattrocento Sans"/>
                <a:cs typeface="Quattrocento Sans"/>
                <a:sym typeface="Quattrocento Sans"/>
              </a:rPr>
              <a:t>A single access point acts as an omnidirectional antenna. A distance estimate of 3.5 meters places the client along a 360-degree radial ring.</a:t>
            </a:r>
            <a:endParaRPr/>
          </a:p>
          <a:p>
            <a:pPr indent="0" lvl="0" marL="0" marR="0" rtl="0" algn="l">
              <a:spcBef>
                <a:spcPts val="1000"/>
              </a:spcBef>
              <a:spcAft>
                <a:spcPts val="0"/>
              </a:spcAft>
              <a:buNone/>
            </a:pPr>
            <a:r>
              <a:rPr b="1" lang="en-US" sz="1200">
                <a:solidFill>
                  <a:srgbClr val="38DAEC"/>
                </a:solidFill>
                <a:latin typeface="Quattrocento Sans"/>
                <a:ea typeface="Quattrocento Sans"/>
                <a:cs typeface="Quattrocento Sans"/>
                <a:sym typeface="Quattrocento Sans"/>
              </a:rPr>
              <a:t>•  Multipath Reflection &amp; Shadowing: </a:t>
            </a:r>
            <a:r>
              <a:rPr lang="en-US" sz="1200">
                <a:solidFill>
                  <a:srgbClr val="DCE6F2"/>
                </a:solidFill>
                <a:latin typeface="Quattrocento Sans"/>
                <a:ea typeface="Quattrocento Sans"/>
                <a:cs typeface="Quattrocento Sans"/>
                <a:sym typeface="Quattrocento Sans"/>
              </a:rPr>
              <a:t>Concrete walls, metal partitions, and moving humans reflect and absorb 2.4/5 GHz radio frequencies, inducing non-linear RSSI fluctuations.</a:t>
            </a:r>
            <a:endParaRPr/>
          </a:p>
          <a:p>
            <a:pPr indent="0" lvl="0" marL="0" marR="0" rtl="0" algn="l">
              <a:spcBef>
                <a:spcPts val="1000"/>
              </a:spcBef>
              <a:spcAft>
                <a:spcPts val="0"/>
              </a:spcAft>
              <a:buNone/>
            </a:pPr>
            <a:r>
              <a:rPr b="1" lang="en-US" sz="1200">
                <a:solidFill>
                  <a:srgbClr val="38DAEC"/>
                </a:solidFill>
                <a:latin typeface="Quattrocento Sans"/>
                <a:ea typeface="Quattrocento Sans"/>
                <a:cs typeface="Quattrocento Sans"/>
                <a:sym typeface="Quattrocento Sans"/>
              </a:rPr>
              <a:t>•  Device Antenna Diversity: </a:t>
            </a:r>
            <a:r>
              <a:rPr lang="en-US" sz="1200">
                <a:solidFill>
                  <a:srgbClr val="DCE6F2"/>
                </a:solidFill>
                <a:latin typeface="Quattrocento Sans"/>
                <a:ea typeface="Quattrocento Sans"/>
                <a:cs typeface="Quattrocento Sans"/>
                <a:sym typeface="Quattrocento Sans"/>
              </a:rPr>
              <a:t> डिफरेंट smartphones feature varying internal gain configurations; calibration offsets are required for centimeter-grade uniformity.</a:t>
            </a:r>
            <a:endParaRPr/>
          </a:p>
          <a:p>
            <a:pPr indent="0" lvl="0" marL="0" marR="0" rtl="0" algn="l">
              <a:spcBef>
                <a:spcPts val="1000"/>
              </a:spcBef>
              <a:spcAft>
                <a:spcPts val="0"/>
              </a:spcAft>
              <a:buNone/>
            </a:pPr>
            <a:r>
              <a:rPr b="1" lang="en-US" sz="1200">
                <a:solidFill>
                  <a:srgbClr val="38DAEC"/>
                </a:solidFill>
                <a:latin typeface="Quattrocento Sans"/>
                <a:ea typeface="Quattrocento Sans"/>
                <a:cs typeface="Quattrocento Sans"/>
                <a:sym typeface="Quattrocento Sans"/>
              </a:rPr>
              <a:t>•  Research Validation: </a:t>
            </a:r>
            <a:r>
              <a:rPr lang="en-US" sz="1200">
                <a:solidFill>
                  <a:srgbClr val="DCE6F2"/>
                </a:solidFill>
                <a:latin typeface="Quattrocento Sans"/>
                <a:ea typeface="Quattrocento Sans"/>
                <a:cs typeface="Quattrocento Sans"/>
                <a:sym typeface="Quattrocento Sans"/>
              </a:rPr>
              <a:t>Our UI explicitly depicts confidence bounds and warning banners to reflect rigorous academic transparency.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2"/>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12"/>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11. VIRTUAL REAL-TIME SIMULATION</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3D Digital Twin Visualization Framework</a:t>
            </a:r>
            <a:endParaRPr/>
          </a:p>
        </p:txBody>
      </p:sp>
      <p:sp>
        <p:nvSpPr>
          <p:cNvPr id="365" name="Google Shape;365;p12"/>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12"/>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12"/>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368" name="Google Shape;368;p12"/>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12 / 25</a:t>
            </a:r>
            <a:endParaRPr/>
          </a:p>
        </p:txBody>
      </p:sp>
      <p:sp>
        <p:nvSpPr>
          <p:cNvPr id="369" name="Google Shape;369;p12"/>
          <p:cNvSpPr/>
          <p:nvPr/>
        </p:nvSpPr>
        <p:spPr>
          <a:xfrm>
            <a:off x="548640" y="146304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12"/>
          <p:cNvSpPr txBox="1"/>
          <p:nvPr/>
        </p:nvSpPr>
        <p:spPr>
          <a:xfrm>
            <a:off x="731520" y="164592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Router Anchor Point</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Positioned at the origin coordinates (0,0,0) or configured wall placement inside the virtual room simulation.</a:t>
            </a:r>
            <a:endParaRPr/>
          </a:p>
        </p:txBody>
      </p:sp>
      <p:sp>
        <p:nvSpPr>
          <p:cNvPr id="371" name="Google Shape;371;p12"/>
          <p:cNvSpPr/>
          <p:nvPr/>
        </p:nvSpPr>
        <p:spPr>
          <a:xfrm>
            <a:off x="3383280" y="1463040"/>
            <a:ext cx="2697480"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12"/>
          <p:cNvSpPr txBox="1"/>
          <p:nvPr/>
        </p:nvSpPr>
        <p:spPr>
          <a:xfrm>
            <a:off x="3566160" y="164592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Human Avatar Models</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Rendered 3D humanoid representations representing connected wireless users in real-time space.</a:t>
            </a:r>
            <a:endParaRPr/>
          </a:p>
        </p:txBody>
      </p:sp>
      <p:sp>
        <p:nvSpPr>
          <p:cNvPr id="373" name="Google Shape;373;p12"/>
          <p:cNvSpPr/>
          <p:nvPr/>
        </p:nvSpPr>
        <p:spPr>
          <a:xfrm>
            <a:off x="6217920" y="146304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12"/>
          <p:cNvSpPr txBox="1"/>
          <p:nvPr/>
        </p:nvSpPr>
        <p:spPr>
          <a:xfrm>
            <a:off x="6400800" y="164592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Estimated Position Radius</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Avatar coordinates dynamically interpolate along computed distance vectors out from the router center.</a:t>
            </a:r>
            <a:endParaRPr/>
          </a:p>
        </p:txBody>
      </p:sp>
      <p:sp>
        <p:nvSpPr>
          <p:cNvPr id="375" name="Google Shape;375;p12"/>
          <p:cNvSpPr/>
          <p:nvPr/>
        </p:nvSpPr>
        <p:spPr>
          <a:xfrm>
            <a:off x="9052560" y="1463040"/>
            <a:ext cx="2697480"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12"/>
          <p:cNvSpPr txBox="1"/>
          <p:nvPr/>
        </p:nvSpPr>
        <p:spPr>
          <a:xfrm>
            <a:off x="9235440" y="164592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Coverage Confidence Zones</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Pulsating circular radar bands colored in neon cyan indicating spatial RSSI tolerance boundaries.</a:t>
            </a:r>
            <a:endParaRPr/>
          </a:p>
        </p:txBody>
      </p:sp>
      <p:sp>
        <p:nvSpPr>
          <p:cNvPr id="377" name="Google Shape;377;p12"/>
          <p:cNvSpPr/>
          <p:nvPr/>
        </p:nvSpPr>
        <p:spPr>
          <a:xfrm>
            <a:off x="548640" y="384048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12"/>
          <p:cNvSpPr txBox="1"/>
          <p:nvPr/>
        </p:nvSpPr>
        <p:spPr>
          <a:xfrm>
            <a:off x="731520" y="402336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Live Synchronized Updates</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Sub-second animation loops smoothly transition avatars across the floor plan as signal values adjust.</a:t>
            </a:r>
            <a:endParaRPr/>
          </a:p>
        </p:txBody>
      </p:sp>
      <p:sp>
        <p:nvSpPr>
          <p:cNvPr id="379" name="Google Shape;379;p12"/>
          <p:cNvSpPr/>
          <p:nvPr/>
        </p:nvSpPr>
        <p:spPr>
          <a:xfrm>
            <a:off x="3383280" y="3840480"/>
            <a:ext cx="2697480"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12"/>
          <p:cNvSpPr txBox="1"/>
          <p:nvPr/>
        </p:nvSpPr>
        <p:spPr>
          <a:xfrm>
            <a:off x="3566160" y="402336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Automatic Entity Creation</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Instantaneous avatar creation upon zero-touch detection of a new Wi-Fi MAC address joining the LAN.</a:t>
            </a:r>
            <a:endParaRPr/>
          </a:p>
        </p:txBody>
      </p:sp>
      <p:sp>
        <p:nvSpPr>
          <p:cNvPr id="381" name="Google Shape;381;p12"/>
          <p:cNvSpPr/>
          <p:nvPr/>
        </p:nvSpPr>
        <p:spPr>
          <a:xfrm>
            <a:off x="6217920" y="3840480"/>
            <a:ext cx="269748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2"/>
          <p:cNvSpPr txBox="1"/>
          <p:nvPr/>
        </p:nvSpPr>
        <p:spPr>
          <a:xfrm>
            <a:off x="6400800" y="402336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Automatic Entity Removal</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Graceful architectural garbage collection purging avatars immediately when network ping disconnects.</a:t>
            </a:r>
            <a:endParaRPr/>
          </a:p>
        </p:txBody>
      </p:sp>
      <p:sp>
        <p:nvSpPr>
          <p:cNvPr id="383" name="Google Shape;383;p12"/>
          <p:cNvSpPr/>
          <p:nvPr/>
        </p:nvSpPr>
        <p:spPr>
          <a:xfrm>
            <a:off x="9052560" y="3840480"/>
            <a:ext cx="2697480"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2"/>
          <p:cNvSpPr txBox="1"/>
          <p:nvPr/>
        </p:nvSpPr>
        <p:spPr>
          <a:xfrm>
            <a:off x="9235440" y="4023360"/>
            <a:ext cx="233172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50">
                <a:solidFill>
                  <a:srgbClr val="FFFFFF"/>
                </a:solidFill>
                <a:latin typeface="Quattrocento Sans"/>
                <a:ea typeface="Quattrocento Sans"/>
                <a:cs typeface="Quattrocento Sans"/>
                <a:sym typeface="Quattrocento Sans"/>
              </a:rPr>
              <a:t>🎮 Interactive Lab Controls</a:t>
            </a:r>
            <a:endParaRPr/>
          </a:p>
          <a:p>
            <a:pPr indent="0" lvl="0" marL="0" marR="0" rtl="0" algn="l">
              <a:spcBef>
                <a:spcPts val="1200"/>
              </a:spcBef>
              <a:spcAft>
                <a:spcPts val="0"/>
              </a:spcAft>
              <a:buNone/>
            </a:pPr>
            <a:r>
              <a:rPr lang="en-US" sz="1250">
                <a:solidFill>
                  <a:srgbClr val="DCE6F2"/>
                </a:solidFill>
                <a:latin typeface="Quattrocento Sans"/>
                <a:ea typeface="Quattrocento Sans"/>
                <a:cs typeface="Quattrocento Sans"/>
                <a:sym typeface="Quattrocento Sans"/>
              </a:rPr>
              <a:t>•  Researchers can pan, orbit zoom, and select specific 3D elements to launch deep diagnostic logs.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13"/>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13"/>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12. AUTONOMOUS CLIENT MANAGEMENT</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Automatic Human Detection &amp; Lifecycle Automation</a:t>
            </a:r>
            <a:endParaRPr/>
          </a:p>
        </p:txBody>
      </p:sp>
      <p:sp>
        <p:nvSpPr>
          <p:cNvPr id="392" name="Google Shape;392;p13"/>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13"/>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13"/>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395" name="Google Shape;395;p13"/>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13 / 25</a:t>
            </a:r>
            <a:endParaRPr/>
          </a:p>
        </p:txBody>
      </p:sp>
      <p:sp>
        <p:nvSpPr>
          <p:cNvPr id="396" name="Google Shape;396;p13"/>
          <p:cNvSpPr/>
          <p:nvPr/>
        </p:nvSpPr>
        <p:spPr>
          <a:xfrm>
            <a:off x="548640" y="1463040"/>
            <a:ext cx="5303520" cy="4663440"/>
          </a:xfrm>
          <a:prstGeom prst="roundRect">
            <a:avLst>
              <a:gd fmla="val 16667" name="adj"/>
            </a:avLst>
          </a:prstGeom>
          <a:solidFill>
            <a:srgbClr val="152342"/>
          </a:solidFill>
          <a:ln cap="flat" cmpd="sng" w="19050">
            <a:solidFill>
              <a:srgbClr val="00EBA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3"/>
          <p:cNvSpPr txBox="1"/>
          <p:nvPr/>
        </p:nvSpPr>
        <p:spPr>
          <a:xfrm>
            <a:off x="731520" y="1645920"/>
            <a:ext cx="493776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Quattrocento Sans"/>
                <a:ea typeface="Quattrocento Sans"/>
                <a:cs typeface="Quattrocento Sans"/>
                <a:sym typeface="Quattrocento Sans"/>
              </a:rPr>
              <a:t>⚡ 🟢 Automatic Connection Workflow</a:t>
            </a:r>
            <a:endParaRPr/>
          </a:p>
          <a:p>
            <a:pPr indent="0" lvl="0" marL="0" marR="0" rtl="0" algn="l">
              <a:spcBef>
                <a:spcPts val="1300"/>
              </a:spcBef>
              <a:spcAft>
                <a:spcPts val="0"/>
              </a:spcAft>
              <a:buNone/>
            </a:pPr>
            <a:r>
              <a:rPr b="1" lang="en-US" sz="1200">
                <a:solidFill>
                  <a:srgbClr val="38DAEC"/>
                </a:solidFill>
                <a:latin typeface="Quattrocento Sans"/>
                <a:ea typeface="Quattrocento Sans"/>
                <a:cs typeface="Quattrocento Sans"/>
                <a:sym typeface="Quattrocento Sans"/>
              </a:rPr>
              <a:t>•  Step 1: Physical Entrance: </a:t>
            </a:r>
            <a:r>
              <a:rPr lang="en-US" sz="1200">
                <a:solidFill>
                  <a:srgbClr val="DCE6F2"/>
                </a:solidFill>
                <a:latin typeface="Quattrocento Sans"/>
                <a:ea typeface="Quattrocento Sans"/>
                <a:cs typeface="Quattrocento Sans"/>
                <a:sym typeface="Quattrocento Sans"/>
              </a:rPr>
              <a:t>User enters physical laboratory carrying a standard Wi-Fi enabled device (smartphone, laptop, tag).</a:t>
            </a:r>
            <a:endParaRPr/>
          </a:p>
          <a:p>
            <a:pPr indent="0" lvl="0" marL="0" marR="0" rtl="0" algn="l">
              <a:spcBef>
                <a:spcPts val="900"/>
              </a:spcBef>
              <a:spcAft>
                <a:spcPts val="0"/>
              </a:spcAft>
              <a:buNone/>
            </a:pPr>
            <a:r>
              <a:rPr b="1" lang="en-US" sz="1200">
                <a:solidFill>
                  <a:srgbClr val="38DAEC"/>
                </a:solidFill>
                <a:latin typeface="Quattrocento Sans"/>
                <a:ea typeface="Quattrocento Sans"/>
                <a:cs typeface="Quattrocento Sans"/>
                <a:sym typeface="Quattrocento Sans"/>
              </a:rPr>
              <a:t>•  Step 2: Router Handshake: </a:t>
            </a:r>
            <a:r>
              <a:rPr lang="en-US" sz="1200">
                <a:solidFill>
                  <a:srgbClr val="DCE6F2"/>
                </a:solidFill>
                <a:latin typeface="Quattrocento Sans"/>
                <a:ea typeface="Quattrocento Sans"/>
                <a:cs typeface="Quattrocento Sans"/>
                <a:sym typeface="Quattrocento Sans"/>
              </a:rPr>
              <a:t>Commercial access point automatically completes 802.11 association and assigns local DHCP IP address.</a:t>
            </a:r>
            <a:endParaRPr/>
          </a:p>
          <a:p>
            <a:pPr indent="0" lvl="0" marL="0" marR="0" rtl="0" algn="l">
              <a:spcBef>
                <a:spcPts val="900"/>
              </a:spcBef>
              <a:spcAft>
                <a:spcPts val="0"/>
              </a:spcAft>
              <a:buNone/>
            </a:pPr>
            <a:r>
              <a:rPr b="1" lang="en-US" sz="1200">
                <a:solidFill>
                  <a:srgbClr val="38DAEC"/>
                </a:solidFill>
                <a:latin typeface="Quattrocento Sans"/>
                <a:ea typeface="Quattrocento Sans"/>
                <a:cs typeface="Quattrocento Sans"/>
                <a:sym typeface="Quattrocento Sans"/>
              </a:rPr>
              <a:t>•  Step 3: Backend Discovery: </a:t>
            </a:r>
            <a:r>
              <a:rPr lang="en-US" sz="1200">
                <a:solidFill>
                  <a:srgbClr val="DCE6F2"/>
                </a:solidFill>
                <a:latin typeface="Quattrocento Sans"/>
                <a:ea typeface="Quattrocento Sans"/>
                <a:cs typeface="Quattrocento Sans"/>
                <a:sym typeface="Quattrocento Sans"/>
              </a:rPr>
              <a:t>Python discovery engine identifies new network hardware MAC signature during background ARP polling.</a:t>
            </a:r>
            <a:endParaRPr/>
          </a:p>
          <a:p>
            <a:pPr indent="0" lvl="0" marL="0" marR="0" rtl="0" algn="l">
              <a:spcBef>
                <a:spcPts val="900"/>
              </a:spcBef>
              <a:spcAft>
                <a:spcPts val="0"/>
              </a:spcAft>
              <a:buNone/>
            </a:pPr>
            <a:r>
              <a:rPr b="1" lang="en-US" sz="1200">
                <a:solidFill>
                  <a:srgbClr val="38DAEC"/>
                </a:solidFill>
                <a:latin typeface="Quattrocento Sans"/>
                <a:ea typeface="Quattrocento Sans"/>
                <a:cs typeface="Quattrocento Sans"/>
                <a:sym typeface="Quattrocento Sans"/>
              </a:rPr>
              <a:t>•  Step 4: State Serialization: </a:t>
            </a:r>
            <a:r>
              <a:rPr lang="en-US" sz="1200">
                <a:solidFill>
                  <a:srgbClr val="DCE6F2"/>
                </a:solidFill>
                <a:latin typeface="Quattrocento Sans"/>
                <a:ea typeface="Quattrocento Sans"/>
                <a:cs typeface="Quattrocento Sans"/>
                <a:sym typeface="Quattrocento Sans"/>
              </a:rPr>
              <a:t>DeviceStateManager instantiates a concurrent tracking session and initiates high-frequency RSSI scraping.</a:t>
            </a:r>
            <a:endParaRPr/>
          </a:p>
          <a:p>
            <a:pPr indent="0" lvl="0" marL="0" marR="0" rtl="0" algn="l">
              <a:spcBef>
                <a:spcPts val="900"/>
              </a:spcBef>
              <a:spcAft>
                <a:spcPts val="0"/>
              </a:spcAft>
              <a:buNone/>
            </a:pPr>
            <a:r>
              <a:rPr b="1" lang="en-US" sz="1200">
                <a:solidFill>
                  <a:srgbClr val="38DAEC"/>
                </a:solidFill>
                <a:latin typeface="Quattrocento Sans"/>
                <a:ea typeface="Quattrocento Sans"/>
                <a:cs typeface="Quattrocento Sans"/>
                <a:sym typeface="Quattrocento Sans"/>
              </a:rPr>
              <a:t>•  Step 5: WebSocket Broadcast: </a:t>
            </a:r>
            <a:r>
              <a:rPr lang="en-US" sz="1200">
                <a:solidFill>
                  <a:srgbClr val="DCE6F2"/>
                </a:solidFill>
                <a:latin typeface="Quattrocento Sans"/>
                <a:ea typeface="Quattrocento Sans"/>
                <a:cs typeface="Quattrocento Sans"/>
                <a:sym typeface="Quattrocento Sans"/>
              </a:rPr>
              <a:t>JSON client creation packet containing initial distance estimates is pushed to React browser clients.</a:t>
            </a:r>
            <a:endParaRPr/>
          </a:p>
          <a:p>
            <a:pPr indent="0" lvl="0" marL="0" marR="0" rtl="0" algn="l">
              <a:spcBef>
                <a:spcPts val="900"/>
              </a:spcBef>
              <a:spcAft>
                <a:spcPts val="0"/>
              </a:spcAft>
              <a:buNone/>
            </a:pPr>
            <a:r>
              <a:rPr b="1" lang="en-US" sz="1200">
                <a:solidFill>
                  <a:srgbClr val="38DAEC"/>
                </a:solidFill>
                <a:latin typeface="Quattrocento Sans"/>
                <a:ea typeface="Quattrocento Sans"/>
                <a:cs typeface="Quattrocento Sans"/>
                <a:sym typeface="Quattrocento Sans"/>
              </a:rPr>
              <a:t>•  Step 6: ✨ Auto Avatar Spawn: </a:t>
            </a:r>
            <a:r>
              <a:rPr lang="en-US" sz="1200">
                <a:solidFill>
                  <a:srgbClr val="DCE6F2"/>
                </a:solidFill>
                <a:latin typeface="Quattrocento Sans"/>
                <a:ea typeface="Quattrocento Sans"/>
                <a:cs typeface="Quattrocento Sans"/>
                <a:sym typeface="Quattrocento Sans"/>
              </a:rPr>
              <a:t>Three.js graphics canvas dynamically generates a glowing 3D humanoid avatar along the computed radial zone.</a:t>
            </a:r>
            <a:endParaRPr/>
          </a:p>
        </p:txBody>
      </p:sp>
      <p:sp>
        <p:nvSpPr>
          <p:cNvPr id="398" name="Google Shape;398;p13"/>
          <p:cNvSpPr/>
          <p:nvPr/>
        </p:nvSpPr>
        <p:spPr>
          <a:xfrm>
            <a:off x="6217920" y="1463040"/>
            <a:ext cx="5394960" cy="4663440"/>
          </a:xfrm>
          <a:prstGeom prst="roundRect">
            <a:avLst>
              <a:gd fmla="val 16667" name="adj"/>
            </a:avLst>
          </a:prstGeom>
          <a:solidFill>
            <a:srgbClr val="152342"/>
          </a:solidFill>
          <a:ln cap="flat" cmpd="sng" w="19050">
            <a:solidFill>
              <a:srgbClr val="FF5F6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3"/>
          <p:cNvSpPr txBox="1"/>
          <p:nvPr/>
        </p:nvSpPr>
        <p:spPr>
          <a:xfrm>
            <a:off x="6400800" y="1645920"/>
            <a:ext cx="502920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Quattrocento Sans"/>
                <a:ea typeface="Quattrocento Sans"/>
                <a:cs typeface="Quattrocento Sans"/>
                <a:sym typeface="Quattrocento Sans"/>
              </a:rPr>
              <a:t>🔄 🔴 Automatic Disconnection Workflow</a:t>
            </a:r>
            <a:endParaRPr/>
          </a:p>
          <a:p>
            <a:pPr indent="0" lvl="0" marL="0" marR="0" rtl="0" algn="l">
              <a:spcBef>
                <a:spcPts val="1300"/>
              </a:spcBef>
              <a:spcAft>
                <a:spcPts val="0"/>
              </a:spcAft>
              <a:buNone/>
            </a:pPr>
            <a:r>
              <a:rPr b="1" lang="en-US" sz="1200">
                <a:solidFill>
                  <a:srgbClr val="38DAEC"/>
                </a:solidFill>
                <a:latin typeface="Quattrocento Sans"/>
                <a:ea typeface="Quattrocento Sans"/>
                <a:cs typeface="Quattrocento Sans"/>
                <a:sym typeface="Quattrocento Sans"/>
              </a:rPr>
              <a:t>•  Step 1: Physical Departure: </a:t>
            </a:r>
            <a:r>
              <a:rPr lang="en-US" sz="1200">
                <a:solidFill>
                  <a:srgbClr val="DCE6F2"/>
                </a:solidFill>
                <a:latin typeface="Quattrocento Sans"/>
                <a:ea typeface="Quattrocento Sans"/>
                <a:cs typeface="Quattrocento Sans"/>
                <a:sym typeface="Quattrocento Sans"/>
              </a:rPr>
              <a:t>User exits the laboratory boundaries or manually disables Wi-Fi transmitter on mobile handset.</a:t>
            </a:r>
            <a:endParaRPr/>
          </a:p>
          <a:p>
            <a:pPr indent="0" lvl="0" marL="0" marR="0" rtl="0" algn="l">
              <a:spcBef>
                <a:spcPts val="900"/>
              </a:spcBef>
              <a:spcAft>
                <a:spcPts val="0"/>
              </a:spcAft>
              <a:buNone/>
            </a:pPr>
            <a:r>
              <a:rPr b="1" lang="en-US" sz="1200">
                <a:solidFill>
                  <a:srgbClr val="38DAEC"/>
                </a:solidFill>
                <a:latin typeface="Quattrocento Sans"/>
                <a:ea typeface="Quattrocento Sans"/>
                <a:cs typeface="Quattrocento Sans"/>
                <a:sym typeface="Quattrocento Sans"/>
              </a:rPr>
              <a:t>•  Step 2: Attenuation Drop: </a:t>
            </a:r>
            <a:r>
              <a:rPr lang="en-US" sz="1200">
                <a:solidFill>
                  <a:srgbClr val="DCE6F2"/>
                </a:solidFill>
                <a:latin typeface="Quattrocento Sans"/>
                <a:ea typeface="Quattrocento Sans"/>
                <a:cs typeface="Quattrocento Sans"/>
                <a:sym typeface="Quattrocento Sans"/>
              </a:rPr>
              <a:t>Signal attenuation instantly degrades beyond normal indoor threshold bounds (&lt; -90 dBm).</a:t>
            </a:r>
            <a:endParaRPr/>
          </a:p>
          <a:p>
            <a:pPr indent="0" lvl="0" marL="0" marR="0" rtl="0" algn="l">
              <a:spcBef>
                <a:spcPts val="900"/>
              </a:spcBef>
              <a:spcAft>
                <a:spcPts val="0"/>
              </a:spcAft>
              <a:buNone/>
            </a:pPr>
            <a:r>
              <a:rPr b="1" lang="en-US" sz="1200">
                <a:solidFill>
                  <a:srgbClr val="38DAEC"/>
                </a:solidFill>
                <a:latin typeface="Quattrocento Sans"/>
                <a:ea typeface="Quattrocento Sans"/>
                <a:cs typeface="Quattrocento Sans"/>
                <a:sym typeface="Quattrocento Sans"/>
              </a:rPr>
              <a:t>•  Step 3: Router Timeout Flag: </a:t>
            </a:r>
            <a:r>
              <a:rPr lang="en-US" sz="1200">
                <a:solidFill>
                  <a:srgbClr val="DCE6F2"/>
                </a:solidFill>
                <a:latin typeface="Quattrocento Sans"/>
                <a:ea typeface="Quattrocento Sans"/>
                <a:cs typeface="Quattrocento Sans"/>
                <a:sym typeface="Quattrocento Sans"/>
              </a:rPr>
              <a:t>Access point drops active TCP ping responses; network gateway flags hardware MAC as disassociated.</a:t>
            </a:r>
            <a:endParaRPr/>
          </a:p>
          <a:p>
            <a:pPr indent="0" lvl="0" marL="0" marR="0" rtl="0" algn="l">
              <a:spcBef>
                <a:spcPts val="900"/>
              </a:spcBef>
              <a:spcAft>
                <a:spcPts val="0"/>
              </a:spcAft>
              <a:buNone/>
            </a:pPr>
            <a:r>
              <a:rPr b="1" lang="en-US" sz="1200">
                <a:solidFill>
                  <a:srgbClr val="38DAEC"/>
                </a:solidFill>
                <a:latin typeface="Quattrocento Sans"/>
                <a:ea typeface="Quattrocento Sans"/>
                <a:cs typeface="Quattrocento Sans"/>
                <a:sym typeface="Quattrocento Sans"/>
              </a:rPr>
              <a:t>•  Step 4: Offline State Marker: </a:t>
            </a:r>
            <a:r>
              <a:rPr lang="en-US" sz="1200">
                <a:solidFill>
                  <a:srgbClr val="DCE6F2"/>
                </a:solidFill>
                <a:latin typeface="Quattrocento Sans"/>
                <a:ea typeface="Quattrocento Sans"/>
                <a:cs typeface="Quattrocento Sans"/>
                <a:sym typeface="Quattrocento Sans"/>
              </a:rPr>
              <a:t>DeviceStateManager shifts internal client state to offline after expiring brief 2000ms jitter grace period.</a:t>
            </a:r>
            <a:endParaRPr/>
          </a:p>
          <a:p>
            <a:pPr indent="0" lvl="0" marL="0" marR="0" rtl="0" algn="l">
              <a:spcBef>
                <a:spcPts val="900"/>
              </a:spcBef>
              <a:spcAft>
                <a:spcPts val="0"/>
              </a:spcAft>
              <a:buNone/>
            </a:pPr>
            <a:r>
              <a:rPr b="1" lang="en-US" sz="1200">
                <a:solidFill>
                  <a:srgbClr val="38DAEC"/>
                </a:solidFill>
                <a:latin typeface="Quattrocento Sans"/>
                <a:ea typeface="Quattrocento Sans"/>
                <a:cs typeface="Quattrocento Sans"/>
                <a:sym typeface="Quattrocento Sans"/>
              </a:rPr>
              <a:t>•  Step 5: Deletion Socket Broadcast: </a:t>
            </a:r>
            <a:r>
              <a:rPr lang="en-US" sz="1200">
                <a:solidFill>
                  <a:srgbClr val="DCE6F2"/>
                </a:solidFill>
                <a:latin typeface="Quattrocento Sans"/>
                <a:ea typeface="Quattrocento Sans"/>
                <a:cs typeface="Quattrocento Sans"/>
                <a:sym typeface="Quattrocento Sans"/>
              </a:rPr>
              <a:t>Server emits explicit JSON `remove_device` event payload across all open WebSocket connections.</a:t>
            </a:r>
            <a:endParaRPr/>
          </a:p>
          <a:p>
            <a:pPr indent="0" lvl="0" marL="0" marR="0" rtl="0" algn="l">
              <a:spcBef>
                <a:spcPts val="900"/>
              </a:spcBef>
              <a:spcAft>
                <a:spcPts val="0"/>
              </a:spcAft>
              <a:buNone/>
            </a:pPr>
            <a:r>
              <a:rPr b="1" lang="en-US" sz="1200">
                <a:solidFill>
                  <a:srgbClr val="38DAEC"/>
                </a:solidFill>
                <a:latin typeface="Quattrocento Sans"/>
                <a:ea typeface="Quattrocento Sans"/>
                <a:cs typeface="Quattrocento Sans"/>
                <a:sym typeface="Quattrocento Sans"/>
              </a:rPr>
              <a:t>•  Step 6: 🗑️ Auto Avatar Removal: </a:t>
            </a:r>
            <a:r>
              <a:rPr lang="en-US" sz="1200">
                <a:solidFill>
                  <a:srgbClr val="DCE6F2"/>
                </a:solidFill>
                <a:latin typeface="Quattrocento Sans"/>
                <a:ea typeface="Quattrocento Sans"/>
                <a:cs typeface="Quattrocento Sans"/>
                <a:sym typeface="Quattrocento Sans"/>
              </a:rPr>
              <a:t>Frontend graphics reconciler removes virtual 3D avatar mesh from canvas and cleans memory buffers.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14"/>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14"/>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13. CENTRAL TELEMETRY INTERFACE</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Enterprise Dashboard Overview</a:t>
            </a:r>
            <a:endParaRPr/>
          </a:p>
        </p:txBody>
      </p:sp>
      <p:sp>
        <p:nvSpPr>
          <p:cNvPr id="407" name="Google Shape;407;p14"/>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14"/>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14"/>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410" name="Google Shape;410;p14"/>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14 / 25</a:t>
            </a:r>
            <a:endParaRPr/>
          </a:p>
        </p:txBody>
      </p:sp>
      <p:sp>
        <p:nvSpPr>
          <p:cNvPr id="411" name="Google Shape;411;p14"/>
          <p:cNvSpPr/>
          <p:nvPr/>
        </p:nvSpPr>
        <p:spPr>
          <a:xfrm>
            <a:off x="548640" y="1463040"/>
            <a:ext cx="6583680" cy="4663440"/>
          </a:xfrm>
          <a:prstGeom prst="roundRect">
            <a:avLst>
              <a:gd fmla="val 16667" name="adj"/>
            </a:avLst>
          </a:prstGeom>
          <a:solidFill>
            <a:srgbClr val="0E1729"/>
          </a:solidFill>
          <a:ln cap="flat" cmpd="sng" w="25400">
            <a:solidFill>
              <a:srgbClr val="38DAE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14"/>
          <p:cNvSpPr/>
          <p:nvPr/>
        </p:nvSpPr>
        <p:spPr>
          <a:xfrm>
            <a:off x="731520" y="1657259"/>
            <a:ext cx="6217800" cy="3657600"/>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600"/>
              </a:spcBef>
              <a:spcAft>
                <a:spcPts val="0"/>
              </a:spcAft>
              <a:buNone/>
            </a:pPr>
            <a:r>
              <a:t/>
            </a:r>
            <a:endParaRPr/>
          </a:p>
        </p:txBody>
      </p:sp>
      <p:sp>
        <p:nvSpPr>
          <p:cNvPr id="413" name="Google Shape;413;p14"/>
          <p:cNvSpPr txBox="1"/>
          <p:nvPr/>
        </p:nvSpPr>
        <p:spPr>
          <a:xfrm>
            <a:off x="731520" y="5349240"/>
            <a:ext cx="621792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DCE6F2"/>
                </a:solidFill>
                <a:latin typeface="Quattrocento Sans"/>
                <a:ea typeface="Quattrocento Sans"/>
                <a:cs typeface="Quattrocento Sans"/>
                <a:sym typeface="Quattrocento Sans"/>
              </a:rPr>
              <a:t>📌 Title &amp; Explanation: Global health gauges, connected device inventory table, and navigation tabs.</a:t>
            </a:r>
            <a:endParaRPr/>
          </a:p>
        </p:txBody>
      </p:sp>
      <p:sp>
        <p:nvSpPr>
          <p:cNvPr id="414" name="Google Shape;414;p14"/>
          <p:cNvSpPr/>
          <p:nvPr/>
        </p:nvSpPr>
        <p:spPr>
          <a:xfrm>
            <a:off x="7406640" y="1463040"/>
            <a:ext cx="4206240" cy="466344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14"/>
          <p:cNvSpPr txBox="1"/>
          <p:nvPr/>
        </p:nvSpPr>
        <p:spPr>
          <a:xfrm>
            <a:off x="7589520" y="1645920"/>
            <a:ext cx="384048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Dashboard Core Capabilities</a:t>
            </a:r>
            <a:endParaRPr/>
          </a:p>
          <a:p>
            <a:pPr indent="0" lvl="0" marL="0" marR="0" rtl="0" algn="l">
              <a:spcBef>
                <a:spcPts val="1600"/>
              </a:spcBef>
              <a:spcAft>
                <a:spcPts val="0"/>
              </a:spcAft>
              <a:buNone/>
            </a:pPr>
            <a:r>
              <a:rPr b="1" lang="en-US" sz="1200">
                <a:solidFill>
                  <a:srgbClr val="38DAEC"/>
                </a:solidFill>
                <a:latin typeface="Quattrocento Sans"/>
                <a:ea typeface="Quattrocento Sans"/>
                <a:cs typeface="Quattrocento Sans"/>
                <a:sym typeface="Quattrocento Sans"/>
              </a:rPr>
              <a:t>•  Router Status &amp; Health: </a:t>
            </a:r>
            <a:r>
              <a:rPr lang="en-US" sz="1200">
                <a:solidFill>
                  <a:srgbClr val="DCE6F2"/>
                </a:solidFill>
                <a:latin typeface="Quattrocento Sans"/>
                <a:ea typeface="Quattrocento Sans"/>
                <a:cs typeface="Quattrocento Sans"/>
                <a:sym typeface="Quattrocento Sans"/>
              </a:rPr>
              <a:t>Real-time monitoring of central gateway active connections, firmware version, and LAN routing tables.</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Health Metrics &amp; QoS: </a:t>
            </a:r>
            <a:r>
              <a:rPr lang="en-US" sz="1200">
                <a:solidFill>
                  <a:srgbClr val="DCE6F2"/>
                </a:solidFill>
                <a:latin typeface="Quattrocento Sans"/>
                <a:ea typeface="Quattrocento Sans"/>
                <a:cs typeface="Quattrocento Sans"/>
                <a:sym typeface="Quattrocento Sans"/>
              </a:rPr>
              <a:t>Live graphical gauges rendering network latency, Signal-to-Noise ratio (SNR), and background noise floors.</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Interactive Client Table: </a:t>
            </a:r>
            <a:r>
              <a:rPr lang="en-US" sz="1200">
                <a:solidFill>
                  <a:srgbClr val="DCE6F2"/>
                </a:solidFill>
                <a:latin typeface="Quattrocento Sans"/>
                <a:ea typeface="Quattrocento Sans"/>
                <a:cs typeface="Quattrocento Sans"/>
                <a:sym typeface="Quattrocento Sans"/>
              </a:rPr>
              <a:t>Organized inventory presenting discovered MAC addresses, assigned local IPs, and live attenuation levels.</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Rapid UI Navigation: </a:t>
            </a:r>
            <a:r>
              <a:rPr lang="en-US" sz="1200">
                <a:solidFill>
                  <a:srgbClr val="DCE6F2"/>
                </a:solidFill>
                <a:latin typeface="Quattrocento Sans"/>
                <a:ea typeface="Quattrocento Sans"/>
                <a:cs typeface="Quattrocento Sans"/>
                <a:sym typeface="Quattrocento Sans"/>
              </a:rPr>
              <a:t>Tabbed control interface allowing instant switching between 2D Topology Graph, 3D Laboratory, and Data Export.</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Dark Enterprise Palette: </a:t>
            </a:r>
            <a:r>
              <a:rPr lang="en-US" sz="1200">
                <a:solidFill>
                  <a:srgbClr val="DCE6F2"/>
                </a:solidFill>
                <a:latin typeface="Quattrocento Sans"/>
                <a:ea typeface="Quattrocento Sans"/>
                <a:cs typeface="Quattrocento Sans"/>
                <a:sym typeface="Quattrocento Sans"/>
              </a:rPr>
              <a:t>High-contrast dark-blue visual design minimizing ocular fatigue during long duration experimental trials.</a:t>
            </a:r>
            <a:endParaRPr/>
          </a:p>
        </p:txBody>
      </p:sp>
      <p:pic>
        <p:nvPicPr>
          <p:cNvPr id="416" name="Google Shape;416;p14"/>
          <p:cNvPicPr preferRelativeResize="0"/>
          <p:nvPr/>
        </p:nvPicPr>
        <p:blipFill>
          <a:blip r:embed="rId3">
            <a:alphaModFix/>
          </a:blip>
          <a:stretch>
            <a:fillRect/>
          </a:stretch>
        </p:blipFill>
        <p:spPr>
          <a:xfrm>
            <a:off x="731525" y="1657250"/>
            <a:ext cx="6217925" cy="4297674"/>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15"/>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15"/>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14. NETWORK ARCHITECTURE RENDERING</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Live Network Topology &amp; Client Graph</a:t>
            </a:r>
            <a:endParaRPr/>
          </a:p>
        </p:txBody>
      </p:sp>
      <p:sp>
        <p:nvSpPr>
          <p:cNvPr id="424" name="Google Shape;424;p15"/>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15"/>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15"/>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427" name="Google Shape;427;p15"/>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15 / 25</a:t>
            </a:r>
            <a:endParaRPr/>
          </a:p>
        </p:txBody>
      </p:sp>
      <p:sp>
        <p:nvSpPr>
          <p:cNvPr id="428" name="Google Shape;428;p15"/>
          <p:cNvSpPr/>
          <p:nvPr/>
        </p:nvSpPr>
        <p:spPr>
          <a:xfrm>
            <a:off x="548640" y="1463040"/>
            <a:ext cx="6583680" cy="4663440"/>
          </a:xfrm>
          <a:prstGeom prst="roundRect">
            <a:avLst>
              <a:gd fmla="val 16667" name="adj"/>
            </a:avLst>
          </a:prstGeom>
          <a:solidFill>
            <a:srgbClr val="0E1729"/>
          </a:solidFill>
          <a:ln cap="flat" cmpd="sng" w="25400">
            <a:solidFill>
              <a:srgbClr val="38DAE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15"/>
          <p:cNvSpPr/>
          <p:nvPr/>
        </p:nvSpPr>
        <p:spPr>
          <a:xfrm>
            <a:off x="731520" y="1645920"/>
            <a:ext cx="6217920" cy="3657600"/>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600"/>
              </a:spcBef>
              <a:spcAft>
                <a:spcPts val="0"/>
              </a:spcAft>
              <a:buNone/>
            </a:pPr>
            <a:r>
              <a:t/>
            </a:r>
            <a:endParaRPr/>
          </a:p>
        </p:txBody>
      </p:sp>
      <p:sp>
        <p:nvSpPr>
          <p:cNvPr id="430" name="Google Shape;430;p15"/>
          <p:cNvSpPr txBox="1"/>
          <p:nvPr/>
        </p:nvSpPr>
        <p:spPr>
          <a:xfrm>
            <a:off x="731520" y="5349240"/>
            <a:ext cx="621792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DCE6F2"/>
                </a:solidFill>
                <a:latin typeface="Quattrocento Sans"/>
                <a:ea typeface="Quattrocento Sans"/>
                <a:cs typeface="Quattrocento Sans"/>
                <a:sym typeface="Quattrocento Sans"/>
              </a:rPr>
              <a:t>📌 Title &amp; Explanation: Live routing network structure mapping central AP to connected wireless clients.</a:t>
            </a:r>
            <a:endParaRPr/>
          </a:p>
        </p:txBody>
      </p:sp>
      <p:sp>
        <p:nvSpPr>
          <p:cNvPr id="431" name="Google Shape;431;p15"/>
          <p:cNvSpPr/>
          <p:nvPr/>
        </p:nvSpPr>
        <p:spPr>
          <a:xfrm>
            <a:off x="7406640" y="1463040"/>
            <a:ext cx="4206240" cy="466344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15"/>
          <p:cNvSpPr txBox="1"/>
          <p:nvPr/>
        </p:nvSpPr>
        <p:spPr>
          <a:xfrm>
            <a:off x="7589520" y="1645920"/>
            <a:ext cx="384048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Topology View Technical Details</a:t>
            </a:r>
            <a:endParaRPr/>
          </a:p>
          <a:p>
            <a:pPr indent="0" lvl="0" marL="0" marR="0" rtl="0" algn="l">
              <a:spcBef>
                <a:spcPts val="1600"/>
              </a:spcBef>
              <a:spcAft>
                <a:spcPts val="0"/>
              </a:spcAft>
              <a:buNone/>
            </a:pPr>
            <a:r>
              <a:rPr b="1" lang="en-US" sz="1200">
                <a:solidFill>
                  <a:srgbClr val="38DAEC"/>
                </a:solidFill>
                <a:latin typeface="Quattrocento Sans"/>
                <a:ea typeface="Quattrocento Sans"/>
                <a:cs typeface="Quattrocento Sans"/>
                <a:sym typeface="Quattrocento Sans"/>
              </a:rPr>
              <a:t>•  Connected Devices Mapping: </a:t>
            </a:r>
            <a:r>
              <a:rPr lang="en-US" sz="1200">
                <a:solidFill>
                  <a:srgbClr val="DCE6F2"/>
                </a:solidFill>
                <a:latin typeface="Quattrocento Sans"/>
                <a:ea typeface="Quattrocento Sans"/>
                <a:cs typeface="Quattrocento Sans"/>
                <a:sym typeface="Quattrocento Sans"/>
              </a:rPr>
              <a:t>Visualizes all active network nodes branching outward from the central router access point root.</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Force-Directed Graphing: </a:t>
            </a:r>
            <a:r>
              <a:rPr lang="en-US" sz="1200">
                <a:solidFill>
                  <a:srgbClr val="DCE6F2"/>
                </a:solidFill>
                <a:latin typeface="Quattrocento Sans"/>
                <a:ea typeface="Quattrocento Sans"/>
                <a:cs typeface="Quattrocento Sans"/>
                <a:sym typeface="Quattrocento Sans"/>
              </a:rPr>
              <a:t>Employs responsive spring-layout physics to arrange client icons cleanly without overlapping tags.</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Link Quality Visual Cues: </a:t>
            </a:r>
            <a:r>
              <a:rPr lang="en-US" sz="1200">
                <a:solidFill>
                  <a:srgbClr val="DCE6F2"/>
                </a:solidFill>
                <a:latin typeface="Quattrocento Sans"/>
                <a:ea typeface="Quattrocento Sans"/>
                <a:cs typeface="Quattrocento Sans"/>
                <a:sym typeface="Quattrocento Sans"/>
              </a:rPr>
              <a:t>Connecting lines change colors dynamically based on RSSI strength: Green (&gt;-55dBm), Yellow (-75dBm), Red (&lt; -80dBm).</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Live Synchronization: </a:t>
            </a:r>
            <a:r>
              <a:rPr lang="en-US" sz="1200">
                <a:solidFill>
                  <a:srgbClr val="DCE6F2"/>
                </a:solidFill>
                <a:latin typeface="Quattrocento Sans"/>
                <a:ea typeface="Quattrocento Sans"/>
                <a:cs typeface="Quattrocento Sans"/>
                <a:sym typeface="Quattrocento Sans"/>
              </a:rPr>
              <a:t>Nodes instantly appear or retract in sub-second synchrony with backend WebSocket connection announcements.</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Node Diagnostic Click: </a:t>
            </a:r>
            <a:r>
              <a:rPr lang="en-US" sz="1200">
                <a:solidFill>
                  <a:srgbClr val="DCE6F2"/>
                </a:solidFill>
                <a:latin typeface="Quattrocento Sans"/>
                <a:ea typeface="Quattrocento Sans"/>
                <a:cs typeface="Quattrocento Sans"/>
                <a:sym typeface="Quattrocento Sans"/>
              </a:rPr>
              <a:t>Selecting any device node instantly highlights spatial coordinates and opens detailed inspection modals.</a:t>
            </a:r>
            <a:endParaRPr/>
          </a:p>
        </p:txBody>
      </p:sp>
      <p:pic>
        <p:nvPicPr>
          <p:cNvPr id="433" name="Google Shape;433;p15"/>
          <p:cNvPicPr preferRelativeResize="0"/>
          <p:nvPr/>
        </p:nvPicPr>
        <p:blipFill>
          <a:blip r:embed="rId3">
            <a:alphaModFix/>
          </a:blip>
          <a:stretch>
            <a:fillRect/>
          </a:stretch>
        </p:blipFill>
        <p:spPr>
          <a:xfrm>
            <a:off x="731525" y="1645925"/>
            <a:ext cx="6217925" cy="3703325"/>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16"/>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16"/>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15. REAL-TIME VIRTUAL ROOM SIMULATION</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3D Digital Twin Laboratory View</a:t>
            </a:r>
            <a:endParaRPr/>
          </a:p>
        </p:txBody>
      </p:sp>
      <p:sp>
        <p:nvSpPr>
          <p:cNvPr id="441" name="Google Shape;441;p16"/>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16"/>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16"/>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444" name="Google Shape;444;p16"/>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16 / 25</a:t>
            </a:r>
            <a:endParaRPr/>
          </a:p>
        </p:txBody>
      </p:sp>
      <p:sp>
        <p:nvSpPr>
          <p:cNvPr id="445" name="Google Shape;445;p16"/>
          <p:cNvSpPr/>
          <p:nvPr/>
        </p:nvSpPr>
        <p:spPr>
          <a:xfrm>
            <a:off x="548640" y="1463040"/>
            <a:ext cx="6583680" cy="4663440"/>
          </a:xfrm>
          <a:prstGeom prst="roundRect">
            <a:avLst>
              <a:gd fmla="val 16667" name="adj"/>
            </a:avLst>
          </a:prstGeom>
          <a:solidFill>
            <a:srgbClr val="0E1729"/>
          </a:solidFill>
          <a:ln cap="flat" cmpd="sng" w="25400">
            <a:solidFill>
              <a:srgbClr val="38DAE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16"/>
          <p:cNvSpPr/>
          <p:nvPr/>
        </p:nvSpPr>
        <p:spPr>
          <a:xfrm>
            <a:off x="731520" y="1645920"/>
            <a:ext cx="6217920" cy="3657600"/>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600"/>
              </a:spcBef>
              <a:spcAft>
                <a:spcPts val="0"/>
              </a:spcAft>
              <a:buNone/>
            </a:pPr>
            <a:r>
              <a:t/>
            </a:r>
            <a:endParaRPr/>
          </a:p>
        </p:txBody>
      </p:sp>
      <p:sp>
        <p:nvSpPr>
          <p:cNvPr id="447" name="Google Shape;447;p16"/>
          <p:cNvSpPr txBox="1"/>
          <p:nvPr/>
        </p:nvSpPr>
        <p:spPr>
          <a:xfrm>
            <a:off x="731520" y="5349240"/>
            <a:ext cx="621792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DCE6F2"/>
                </a:solidFill>
                <a:latin typeface="Quattrocento Sans"/>
                <a:ea typeface="Quattrocento Sans"/>
                <a:cs typeface="Quattrocento Sans"/>
                <a:sym typeface="Quattrocento Sans"/>
              </a:rPr>
              <a:t>📌 Title &amp; Explanation: Rendered 3D research laboratory featuring router anchor, human avatars, and radar rings.</a:t>
            </a:r>
            <a:endParaRPr/>
          </a:p>
        </p:txBody>
      </p:sp>
      <p:sp>
        <p:nvSpPr>
          <p:cNvPr id="448" name="Google Shape;448;p16"/>
          <p:cNvSpPr/>
          <p:nvPr/>
        </p:nvSpPr>
        <p:spPr>
          <a:xfrm>
            <a:off x="7406640" y="1463040"/>
            <a:ext cx="4206240" cy="466344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16"/>
          <p:cNvSpPr txBox="1"/>
          <p:nvPr/>
        </p:nvSpPr>
        <p:spPr>
          <a:xfrm>
            <a:off x="7589520" y="1645920"/>
            <a:ext cx="384048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3D Lab View Highlights</a:t>
            </a:r>
            <a:endParaRPr/>
          </a:p>
          <a:p>
            <a:pPr indent="0" lvl="0" marL="0" marR="0" rtl="0" algn="l">
              <a:spcBef>
                <a:spcPts val="1600"/>
              </a:spcBef>
              <a:spcAft>
                <a:spcPts val="0"/>
              </a:spcAft>
              <a:buNone/>
            </a:pPr>
            <a:r>
              <a:rPr b="1" lang="en-US" sz="1200">
                <a:solidFill>
                  <a:srgbClr val="38DAEC"/>
                </a:solidFill>
                <a:latin typeface="Quattrocento Sans"/>
                <a:ea typeface="Quattrocento Sans"/>
                <a:cs typeface="Quattrocento Sans"/>
                <a:sym typeface="Quattrocento Sans"/>
              </a:rPr>
              <a:t>•  Virtual Room Geometry: </a:t>
            </a:r>
            <a:r>
              <a:rPr lang="en-US" sz="1200">
                <a:solidFill>
                  <a:srgbClr val="DCE6F2"/>
                </a:solidFill>
                <a:latin typeface="Quattrocento Sans"/>
                <a:ea typeface="Quattrocento Sans"/>
                <a:cs typeface="Quattrocento Sans"/>
                <a:sym typeface="Quattrocento Sans"/>
              </a:rPr>
              <a:t>Accurately modeled floor bounds and workspace layout replicating our physical research demonstration testing lab.</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Router Core Placement: </a:t>
            </a:r>
            <a:r>
              <a:rPr lang="en-US" sz="1200">
                <a:solidFill>
                  <a:srgbClr val="DCE6F2"/>
                </a:solidFill>
                <a:latin typeface="Quattrocento Sans"/>
                <a:ea typeface="Quattrocento Sans"/>
                <a:cs typeface="Quattrocento Sans"/>
                <a:sym typeface="Quattrocento Sans"/>
              </a:rPr>
              <a:t>Visual beacon anchored at physical wall coordinates emitting virtual radio attenuation waves.</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Human Avatar Positioning: </a:t>
            </a:r>
            <a:r>
              <a:rPr lang="en-US" sz="1200">
                <a:solidFill>
                  <a:srgbClr val="DCE6F2"/>
                </a:solidFill>
                <a:latin typeface="Quattrocento Sans"/>
                <a:ea typeface="Quattrocento Sans"/>
                <a:cs typeface="Quattrocento Sans"/>
                <a:sym typeface="Quattrocento Sans"/>
              </a:rPr>
              <a:t>Dynamic 3D humanoid models positioned along mathematically calculated Euclidean spatial radii.</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Concentric Distance Rings: </a:t>
            </a:r>
            <a:r>
              <a:rPr lang="en-US" sz="1200">
                <a:solidFill>
                  <a:srgbClr val="DCE6F2"/>
                </a:solidFill>
                <a:latin typeface="Quattrocento Sans"/>
                <a:ea typeface="Quattrocento Sans"/>
                <a:cs typeface="Quattrocento Sans"/>
                <a:sym typeface="Quattrocento Sans"/>
              </a:rPr>
              <a:t>Pulsating cyan radar circles delineating radial confidence intervals and signal decay thresholds.</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Free-Fly Camera Controls: </a:t>
            </a:r>
            <a:r>
              <a:rPr lang="en-US" sz="1200">
                <a:solidFill>
                  <a:srgbClr val="DCE6F2"/>
                </a:solidFill>
                <a:latin typeface="Quattrocento Sans"/>
                <a:ea typeface="Quattrocento Sans"/>
                <a:cs typeface="Quattrocento Sans"/>
                <a:sym typeface="Quattrocento Sans"/>
              </a:rPr>
              <a:t>Full mouse interactivity allowing orbital rotating, panning, zooming, and top-down architectural layout inspection.</a:t>
            </a:r>
            <a:endParaRPr/>
          </a:p>
        </p:txBody>
      </p:sp>
      <p:pic>
        <p:nvPicPr>
          <p:cNvPr id="450" name="Google Shape;450;p16"/>
          <p:cNvPicPr preferRelativeResize="0"/>
          <p:nvPr/>
        </p:nvPicPr>
        <p:blipFill>
          <a:blip r:embed="rId3">
            <a:alphaModFix/>
          </a:blip>
          <a:stretch>
            <a:fillRect/>
          </a:stretch>
        </p:blipFill>
        <p:spPr>
          <a:xfrm>
            <a:off x="731525" y="1645925"/>
            <a:ext cx="6217925" cy="3657601"/>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17"/>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17"/>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16. DEEP PARAMETER INSPECTION &amp; AI</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Detailed Real-Time Client Telemetry Panel</a:t>
            </a:r>
            <a:endParaRPr/>
          </a:p>
        </p:txBody>
      </p:sp>
      <p:sp>
        <p:nvSpPr>
          <p:cNvPr id="458" name="Google Shape;458;p17"/>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17"/>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17"/>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461" name="Google Shape;461;p17"/>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17 / 25</a:t>
            </a:r>
            <a:endParaRPr/>
          </a:p>
        </p:txBody>
      </p:sp>
      <p:sp>
        <p:nvSpPr>
          <p:cNvPr id="462" name="Google Shape;462;p17"/>
          <p:cNvSpPr/>
          <p:nvPr/>
        </p:nvSpPr>
        <p:spPr>
          <a:xfrm>
            <a:off x="548640" y="1463040"/>
            <a:ext cx="6583680" cy="4663440"/>
          </a:xfrm>
          <a:prstGeom prst="roundRect">
            <a:avLst>
              <a:gd fmla="val 16667" name="adj"/>
            </a:avLst>
          </a:prstGeom>
          <a:solidFill>
            <a:srgbClr val="0E1729"/>
          </a:solidFill>
          <a:ln cap="flat" cmpd="sng" w="25400">
            <a:solidFill>
              <a:srgbClr val="38DAE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17"/>
          <p:cNvSpPr/>
          <p:nvPr/>
        </p:nvSpPr>
        <p:spPr>
          <a:xfrm>
            <a:off x="731520" y="1645920"/>
            <a:ext cx="6217920" cy="3657600"/>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600"/>
              </a:spcBef>
              <a:spcAft>
                <a:spcPts val="0"/>
              </a:spcAft>
              <a:buNone/>
            </a:pPr>
            <a:r>
              <a:t/>
            </a:r>
            <a:endParaRPr/>
          </a:p>
        </p:txBody>
      </p:sp>
      <p:sp>
        <p:nvSpPr>
          <p:cNvPr id="464" name="Google Shape;464;p17"/>
          <p:cNvSpPr txBox="1"/>
          <p:nvPr/>
        </p:nvSpPr>
        <p:spPr>
          <a:xfrm>
            <a:off x="731520" y="5349240"/>
            <a:ext cx="621792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DCE6F2"/>
                </a:solidFill>
                <a:latin typeface="Quattrocento Sans"/>
                <a:ea typeface="Quattrocento Sans"/>
                <a:cs typeface="Quattrocento Sans"/>
                <a:sym typeface="Quattrocento Sans"/>
              </a:rPr>
              <a:t>📌 Title &amp; Explanation: Live RSSI streaming curves, hardware identifiers, estimated distances, and motion classification.</a:t>
            </a:r>
            <a:endParaRPr/>
          </a:p>
        </p:txBody>
      </p:sp>
      <p:sp>
        <p:nvSpPr>
          <p:cNvPr id="465" name="Google Shape;465;p17"/>
          <p:cNvSpPr/>
          <p:nvPr/>
        </p:nvSpPr>
        <p:spPr>
          <a:xfrm>
            <a:off x="7406640" y="1463040"/>
            <a:ext cx="4206240" cy="466344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17"/>
          <p:cNvSpPr txBox="1"/>
          <p:nvPr/>
        </p:nvSpPr>
        <p:spPr>
          <a:xfrm>
            <a:off x="7589520" y="1645920"/>
            <a:ext cx="384048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Telemetry Panel Breakdown</a:t>
            </a:r>
            <a:endParaRPr/>
          </a:p>
          <a:p>
            <a:pPr indent="0" lvl="0" marL="0" marR="0" rtl="0" algn="l">
              <a:spcBef>
                <a:spcPts val="1600"/>
              </a:spcBef>
              <a:spcAft>
                <a:spcPts val="0"/>
              </a:spcAft>
              <a:buNone/>
            </a:pPr>
            <a:r>
              <a:rPr b="1" lang="en-US" sz="1200">
                <a:solidFill>
                  <a:srgbClr val="38DAEC"/>
                </a:solidFill>
                <a:latin typeface="Quattrocento Sans"/>
                <a:ea typeface="Quattrocento Sans"/>
                <a:cs typeface="Quattrocento Sans"/>
                <a:sym typeface="Quattrocento Sans"/>
              </a:rPr>
              <a:t>•  Hardware Identifiers: </a:t>
            </a:r>
            <a:r>
              <a:rPr lang="en-US" sz="1200">
                <a:solidFill>
                  <a:srgbClr val="DCE6F2"/>
                </a:solidFill>
                <a:latin typeface="Quattrocento Sans"/>
                <a:ea typeface="Quattrocento Sans"/>
                <a:cs typeface="Quattrocento Sans"/>
                <a:sym typeface="Quattrocento Sans"/>
              </a:rPr>
              <a:t>Full visibility into device MAC address, assigned DHCP IP address, network gateway, and wireless frequency bands.</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Live Attenuation Charting: </a:t>
            </a:r>
            <a:r>
              <a:rPr lang="en-US" sz="1200">
                <a:solidFill>
                  <a:srgbClr val="DCE6F2"/>
                </a:solidFill>
                <a:latin typeface="Quattrocento Sans"/>
                <a:ea typeface="Quattrocento Sans"/>
                <a:cs typeface="Quattrocento Sans"/>
                <a:sym typeface="Quattrocento Sans"/>
              </a:rPr>
              <a:t>Continuous real-time graphical plotting of Received Signal Strength (RSSI in dBm) over historical timestamps.</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Estimated Distance Meter: </a:t>
            </a:r>
            <a:r>
              <a:rPr lang="en-US" sz="1200">
                <a:solidFill>
                  <a:srgbClr val="DCE6F2"/>
                </a:solidFill>
                <a:latin typeface="Quattrocento Sans"/>
                <a:ea typeface="Quattrocento Sans"/>
                <a:cs typeface="Quattrocento Sans"/>
                <a:sym typeface="Quattrocento Sans"/>
              </a:rPr>
              <a:t>Numerical readout displaying filtered radial distance calculations updated at sub-second polling rates.</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AI Confidence Score: </a:t>
            </a:r>
            <a:r>
              <a:rPr lang="en-US" sz="1200">
                <a:solidFill>
                  <a:srgbClr val="DCE6F2"/>
                </a:solidFill>
                <a:latin typeface="Quattrocento Sans"/>
                <a:ea typeface="Quattrocento Sans"/>
                <a:cs typeface="Quattrocento Sans"/>
                <a:sym typeface="Quattrocento Sans"/>
              </a:rPr>
              <a:t>Algorithmic stability metric evaluatingsignal jitter and multipath interference levels (0-100% scale).</a:t>
            </a:r>
            <a:endParaRPr/>
          </a:p>
          <a:p>
            <a:pPr indent="0" lvl="0" marL="0" marR="0" rtl="0" algn="l">
              <a:spcBef>
                <a:spcPts val="1200"/>
              </a:spcBef>
              <a:spcAft>
                <a:spcPts val="0"/>
              </a:spcAft>
              <a:buNone/>
            </a:pPr>
            <a:r>
              <a:rPr b="1" lang="en-US" sz="1200">
                <a:solidFill>
                  <a:srgbClr val="38DAEC"/>
                </a:solidFill>
                <a:latin typeface="Quattrocento Sans"/>
                <a:ea typeface="Quattrocento Sans"/>
                <a:cs typeface="Quattrocento Sans"/>
                <a:sym typeface="Quattrocento Sans"/>
              </a:rPr>
              <a:t>•  Real-Time Motion State: </a:t>
            </a:r>
            <a:r>
              <a:rPr lang="en-US" sz="1200">
                <a:solidFill>
                  <a:srgbClr val="DCE6F2"/>
                </a:solidFill>
                <a:latin typeface="Quattrocento Sans"/>
                <a:ea typeface="Quattrocento Sans"/>
                <a:cs typeface="Quattrocento Sans"/>
                <a:sym typeface="Quattrocento Sans"/>
              </a:rPr>
              <a:t>Heuristic activity classifier categorizing subject mobility into Static, Active Walking, or Out-of-Range states.</a:t>
            </a:r>
            <a:endParaRPr/>
          </a:p>
        </p:txBody>
      </p:sp>
      <p:pic>
        <p:nvPicPr>
          <p:cNvPr id="467" name="Google Shape;467;p17"/>
          <p:cNvPicPr preferRelativeResize="0"/>
          <p:nvPr/>
        </p:nvPicPr>
        <p:blipFill>
          <a:blip r:embed="rId3">
            <a:alphaModFix/>
          </a:blip>
          <a:stretch>
            <a:fillRect/>
          </a:stretch>
        </p:blipFill>
        <p:spPr>
          <a:xfrm>
            <a:off x="731525" y="1645925"/>
            <a:ext cx="6217925" cy="3657601"/>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8"/>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18"/>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17. SYSTEM PERFORMANCE MATRIX</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Real-Time Software Features &amp; Capabilities</a:t>
            </a:r>
            <a:endParaRPr/>
          </a:p>
        </p:txBody>
      </p:sp>
      <p:sp>
        <p:nvSpPr>
          <p:cNvPr id="475" name="Google Shape;475;p18"/>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18"/>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18"/>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478" name="Google Shape;478;p18"/>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18 / 25</a:t>
            </a:r>
            <a:endParaRPr/>
          </a:p>
        </p:txBody>
      </p:sp>
      <p:sp>
        <p:nvSpPr>
          <p:cNvPr id="479" name="Google Shape;479;p18"/>
          <p:cNvSpPr/>
          <p:nvPr/>
        </p:nvSpPr>
        <p:spPr>
          <a:xfrm>
            <a:off x="548640" y="1463040"/>
            <a:ext cx="3639312"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18"/>
          <p:cNvSpPr txBox="1"/>
          <p:nvPr/>
        </p:nvSpPr>
        <p:spPr>
          <a:xfrm>
            <a:off x="731520" y="1645920"/>
            <a:ext cx="3273552"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FFFFFF"/>
                </a:solidFill>
                <a:latin typeface="Quattrocento Sans"/>
                <a:ea typeface="Quattrocento Sans"/>
                <a:cs typeface="Quattrocento Sans"/>
                <a:sym typeface="Quattrocento Sans"/>
              </a:rPr>
              <a:t>🔄 Automatic Discovery</a:t>
            </a:r>
            <a:endParaRPr/>
          </a:p>
          <a:p>
            <a:pPr indent="0" lvl="0" marL="0" marR="0" rtl="0" algn="l">
              <a:spcBef>
                <a:spcPts val="1400"/>
              </a:spcBef>
              <a:spcAft>
                <a:spcPts val="0"/>
              </a:spcAft>
              <a:buNone/>
            </a:pPr>
            <a:r>
              <a:rPr lang="en-US" sz="1300">
                <a:solidFill>
                  <a:srgbClr val="DCE6F2"/>
                </a:solidFill>
                <a:latin typeface="Quattrocento Sans"/>
                <a:ea typeface="Quattrocento Sans"/>
                <a:cs typeface="Quattrocento Sans"/>
                <a:sym typeface="Quattrocento Sans"/>
              </a:rPr>
              <a:t>•  Zero-touch instant recognition of any newly associated Wi-Fi device, smartphone, or laptop entering the laboratory.</a:t>
            </a:r>
            <a:endParaRPr/>
          </a:p>
        </p:txBody>
      </p:sp>
      <p:sp>
        <p:nvSpPr>
          <p:cNvPr id="481" name="Google Shape;481;p18"/>
          <p:cNvSpPr/>
          <p:nvPr/>
        </p:nvSpPr>
        <p:spPr>
          <a:xfrm>
            <a:off x="4334255" y="1463040"/>
            <a:ext cx="3639312"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18"/>
          <p:cNvSpPr txBox="1"/>
          <p:nvPr/>
        </p:nvSpPr>
        <p:spPr>
          <a:xfrm>
            <a:off x="4517135" y="1645920"/>
            <a:ext cx="3273552"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FFFFFF"/>
                </a:solidFill>
                <a:latin typeface="Quattrocento Sans"/>
                <a:ea typeface="Quattrocento Sans"/>
                <a:cs typeface="Quattrocento Sans"/>
                <a:sym typeface="Quattrocento Sans"/>
              </a:rPr>
              <a:t>⚡ Live WebSocket Streams</a:t>
            </a:r>
            <a:endParaRPr/>
          </a:p>
          <a:p>
            <a:pPr indent="0" lvl="0" marL="0" marR="0" rtl="0" algn="l">
              <a:spcBef>
                <a:spcPts val="1400"/>
              </a:spcBef>
              <a:spcAft>
                <a:spcPts val="0"/>
              </a:spcAft>
              <a:buNone/>
            </a:pPr>
            <a:r>
              <a:rPr lang="en-US" sz="1300">
                <a:solidFill>
                  <a:srgbClr val="DCE6F2"/>
                </a:solidFill>
                <a:latin typeface="Quattrocento Sans"/>
                <a:ea typeface="Quattrocento Sans"/>
                <a:cs typeface="Quattrocento Sans"/>
                <a:sym typeface="Quattrocento Sans"/>
              </a:rPr>
              <a:t>•  Persistent bi-directional TCP communication piping sub-second JSON telemetry updates directly into client memory.</a:t>
            </a:r>
            <a:endParaRPr/>
          </a:p>
        </p:txBody>
      </p:sp>
      <p:sp>
        <p:nvSpPr>
          <p:cNvPr id="483" name="Google Shape;483;p18"/>
          <p:cNvSpPr/>
          <p:nvPr/>
        </p:nvSpPr>
        <p:spPr>
          <a:xfrm>
            <a:off x="8119870" y="1463040"/>
            <a:ext cx="3639312"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18"/>
          <p:cNvSpPr txBox="1"/>
          <p:nvPr/>
        </p:nvSpPr>
        <p:spPr>
          <a:xfrm>
            <a:off x="8302750" y="1645920"/>
            <a:ext cx="3273552"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FFFFFF"/>
                </a:solidFill>
                <a:latin typeface="Quattrocento Sans"/>
                <a:ea typeface="Quattrocento Sans"/>
                <a:cs typeface="Quattrocento Sans"/>
                <a:sym typeface="Quattrocento Sans"/>
              </a:rPr>
              <a:t>✨ Auto Avatar Creation</a:t>
            </a:r>
            <a:endParaRPr/>
          </a:p>
          <a:p>
            <a:pPr indent="0" lvl="0" marL="0" marR="0" rtl="0" algn="l">
              <a:spcBef>
                <a:spcPts val="1400"/>
              </a:spcBef>
              <a:spcAft>
                <a:spcPts val="0"/>
              </a:spcAft>
              <a:buNone/>
            </a:pPr>
            <a:r>
              <a:rPr lang="en-US" sz="1300">
                <a:solidFill>
                  <a:srgbClr val="DCE6F2"/>
                </a:solidFill>
                <a:latin typeface="Quattrocento Sans"/>
                <a:ea typeface="Quattrocento Sans"/>
                <a:cs typeface="Quattrocento Sans"/>
                <a:sym typeface="Quattrocento Sans"/>
              </a:rPr>
              <a:t>•  Zero manual user intervention needed—3D humanoid avatars generate automatically when network MAC handshakes complete.</a:t>
            </a:r>
            <a:endParaRPr/>
          </a:p>
        </p:txBody>
      </p:sp>
      <p:sp>
        <p:nvSpPr>
          <p:cNvPr id="485" name="Google Shape;485;p18"/>
          <p:cNvSpPr/>
          <p:nvPr/>
        </p:nvSpPr>
        <p:spPr>
          <a:xfrm>
            <a:off x="548640" y="3840480"/>
            <a:ext cx="3639312"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18"/>
          <p:cNvSpPr txBox="1"/>
          <p:nvPr/>
        </p:nvSpPr>
        <p:spPr>
          <a:xfrm>
            <a:off x="731520" y="4023360"/>
            <a:ext cx="3273552"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FFFFFF"/>
                </a:solidFill>
                <a:latin typeface="Quattrocento Sans"/>
                <a:ea typeface="Quattrocento Sans"/>
                <a:cs typeface="Quattrocento Sans"/>
                <a:sym typeface="Quattrocento Sans"/>
              </a:rPr>
              <a:t>📈 Real-Time Chart Updates</a:t>
            </a:r>
            <a:endParaRPr/>
          </a:p>
          <a:p>
            <a:pPr indent="0" lvl="0" marL="0" marR="0" rtl="0" algn="l">
              <a:spcBef>
                <a:spcPts val="1400"/>
              </a:spcBef>
              <a:spcAft>
                <a:spcPts val="0"/>
              </a:spcAft>
              <a:buNone/>
            </a:pPr>
            <a:r>
              <a:rPr lang="en-US" sz="1300">
                <a:solidFill>
                  <a:srgbClr val="DCE6F2"/>
                </a:solidFill>
                <a:latin typeface="Quattrocento Sans"/>
                <a:ea typeface="Quattrocento Sans"/>
                <a:cs typeface="Quattrocento Sans"/>
                <a:sym typeface="Quattrocento Sans"/>
              </a:rPr>
              <a:t>•  High-frequency streaming canvases updating signal attenuation trajectories without browser stuttering or page reloads.</a:t>
            </a:r>
            <a:endParaRPr/>
          </a:p>
        </p:txBody>
      </p:sp>
      <p:sp>
        <p:nvSpPr>
          <p:cNvPr id="487" name="Google Shape;487;p18"/>
          <p:cNvSpPr/>
          <p:nvPr/>
        </p:nvSpPr>
        <p:spPr>
          <a:xfrm>
            <a:off x="4334255" y="3840480"/>
            <a:ext cx="3639312"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18"/>
          <p:cNvSpPr txBox="1"/>
          <p:nvPr/>
        </p:nvSpPr>
        <p:spPr>
          <a:xfrm>
            <a:off x="4517135" y="4023360"/>
            <a:ext cx="3273552"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FFFFFF"/>
                </a:solidFill>
                <a:latin typeface="Quattrocento Sans"/>
                <a:ea typeface="Quattrocento Sans"/>
                <a:cs typeface="Quattrocento Sans"/>
                <a:sym typeface="Quattrocento Sans"/>
              </a:rPr>
              <a:t>🗑️ Device Removal Protocols</a:t>
            </a:r>
            <a:endParaRPr/>
          </a:p>
          <a:p>
            <a:pPr indent="0" lvl="0" marL="0" marR="0" rtl="0" algn="l">
              <a:spcBef>
                <a:spcPts val="1400"/>
              </a:spcBef>
              <a:spcAft>
                <a:spcPts val="0"/>
              </a:spcAft>
              <a:buNone/>
            </a:pPr>
            <a:r>
              <a:rPr lang="en-US" sz="1300">
                <a:solidFill>
                  <a:srgbClr val="DCE6F2"/>
                </a:solidFill>
                <a:latin typeface="Quattrocento Sans"/>
                <a:ea typeface="Quattrocento Sans"/>
                <a:cs typeface="Quattrocento Sans"/>
                <a:sym typeface="Quattrocento Sans"/>
              </a:rPr>
              <a:t>•  Instant architectural cleanup terminating dead sessions and removing obsolete 3D scene meshes upon out-of-range disconnects.</a:t>
            </a:r>
            <a:endParaRPr/>
          </a:p>
        </p:txBody>
      </p:sp>
      <p:sp>
        <p:nvSpPr>
          <p:cNvPr id="489" name="Google Shape;489;p18"/>
          <p:cNvSpPr/>
          <p:nvPr/>
        </p:nvSpPr>
        <p:spPr>
          <a:xfrm>
            <a:off x="8119870" y="3840480"/>
            <a:ext cx="3639312"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18"/>
          <p:cNvSpPr txBox="1"/>
          <p:nvPr/>
        </p:nvSpPr>
        <p:spPr>
          <a:xfrm>
            <a:off x="8302750" y="4023360"/>
            <a:ext cx="3273552"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FFFFFF"/>
                </a:solidFill>
                <a:latin typeface="Quattrocento Sans"/>
                <a:ea typeface="Quattrocento Sans"/>
                <a:cs typeface="Quattrocento Sans"/>
                <a:sym typeface="Quattrocento Sans"/>
              </a:rPr>
              <a:t>🧑‍🤝‍🧑 Multi-User Simultaneous</a:t>
            </a:r>
            <a:endParaRPr/>
          </a:p>
          <a:p>
            <a:pPr indent="0" lvl="0" marL="0" marR="0" rtl="0" algn="l">
              <a:spcBef>
                <a:spcPts val="1400"/>
              </a:spcBef>
              <a:spcAft>
                <a:spcPts val="0"/>
              </a:spcAft>
              <a:buNone/>
            </a:pPr>
            <a:r>
              <a:rPr lang="en-US" sz="1300">
                <a:solidFill>
                  <a:srgbClr val="DCE6F2"/>
                </a:solidFill>
                <a:latin typeface="Quattrocento Sans"/>
                <a:ea typeface="Quattrocento Sans"/>
                <a:cs typeface="Quattrocento Sans"/>
                <a:sym typeface="Quattrocento Sans"/>
              </a:rPr>
              <a:t>•  Thread-safe dictionary design supporting concurrent real-time positioning for dozens of overlapping laboratory occupants.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9"/>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19"/>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18. DESIGN EXCELLENCE &amp; BENCHMARKS</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Key Architectural &amp; System Features</a:t>
            </a:r>
            <a:endParaRPr/>
          </a:p>
        </p:txBody>
      </p:sp>
      <p:sp>
        <p:nvSpPr>
          <p:cNvPr id="498" name="Google Shape;498;p19"/>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19"/>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19"/>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501" name="Google Shape;501;p19"/>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19 / 25</a:t>
            </a:r>
            <a:endParaRPr/>
          </a:p>
        </p:txBody>
      </p:sp>
      <p:sp>
        <p:nvSpPr>
          <p:cNvPr id="502" name="Google Shape;502;p19"/>
          <p:cNvSpPr/>
          <p:nvPr/>
        </p:nvSpPr>
        <p:spPr>
          <a:xfrm>
            <a:off x="548640" y="1463040"/>
            <a:ext cx="3639312"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19"/>
          <p:cNvSpPr txBox="1"/>
          <p:nvPr/>
        </p:nvSpPr>
        <p:spPr>
          <a:xfrm>
            <a:off x="731520" y="1645920"/>
            <a:ext cx="3273552"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FFFFFF"/>
                </a:solidFill>
                <a:latin typeface="Quattrocento Sans"/>
                <a:ea typeface="Quattrocento Sans"/>
                <a:cs typeface="Quattrocento Sans"/>
                <a:sym typeface="Quattrocento Sans"/>
              </a:rPr>
              <a:t>🎨 Enterprise-Grade UI/UX</a:t>
            </a:r>
            <a:endParaRPr/>
          </a:p>
          <a:p>
            <a:pPr indent="0" lvl="0" marL="0" marR="0" rtl="0" algn="l">
              <a:spcBef>
                <a:spcPts val="1400"/>
              </a:spcBef>
              <a:spcAft>
                <a:spcPts val="0"/>
              </a:spcAft>
              <a:buNone/>
            </a:pPr>
            <a:r>
              <a:rPr lang="en-US" sz="1300">
                <a:solidFill>
                  <a:srgbClr val="DCE6F2"/>
                </a:solidFill>
                <a:latin typeface="Quattrocento Sans"/>
                <a:ea typeface="Quattrocento Sans"/>
                <a:cs typeface="Quattrocento Sans"/>
                <a:sym typeface="Quattrocento Sans"/>
              </a:rPr>
              <a:t>•  Tailored dark navy color palette, sleek modern typography, rounded cards, and responsive glassmorphic navigation containers.</a:t>
            </a:r>
            <a:endParaRPr/>
          </a:p>
        </p:txBody>
      </p:sp>
      <p:sp>
        <p:nvSpPr>
          <p:cNvPr id="504" name="Google Shape;504;p19"/>
          <p:cNvSpPr/>
          <p:nvPr/>
        </p:nvSpPr>
        <p:spPr>
          <a:xfrm>
            <a:off x="4334255" y="1463040"/>
            <a:ext cx="3639312"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19"/>
          <p:cNvSpPr txBox="1"/>
          <p:nvPr/>
        </p:nvSpPr>
        <p:spPr>
          <a:xfrm>
            <a:off x="4517135" y="1645920"/>
            <a:ext cx="3273552"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FFFFFF"/>
                </a:solidFill>
                <a:latin typeface="Quattrocento Sans"/>
                <a:ea typeface="Quattrocento Sans"/>
                <a:cs typeface="Quattrocento Sans"/>
                <a:sym typeface="Quattrocento Sans"/>
              </a:rPr>
              <a:t>🌐 Complete Digital Twin</a:t>
            </a:r>
            <a:endParaRPr/>
          </a:p>
          <a:p>
            <a:pPr indent="0" lvl="0" marL="0" marR="0" rtl="0" algn="l">
              <a:spcBef>
                <a:spcPts val="1400"/>
              </a:spcBef>
              <a:spcAft>
                <a:spcPts val="0"/>
              </a:spcAft>
              <a:buNone/>
            </a:pPr>
            <a:r>
              <a:rPr lang="en-US" sz="1300">
                <a:solidFill>
                  <a:srgbClr val="DCE6F2"/>
                </a:solidFill>
                <a:latin typeface="Quattrocento Sans"/>
                <a:ea typeface="Quattrocento Sans"/>
                <a:cs typeface="Quattrocento Sans"/>
                <a:sym typeface="Quattrocento Sans"/>
              </a:rPr>
              <a:t>•  Seamless operational bridging between ambient radio frequency propagation analysis and interactive 3D virtual simulation.</a:t>
            </a:r>
            <a:endParaRPr/>
          </a:p>
        </p:txBody>
      </p:sp>
      <p:sp>
        <p:nvSpPr>
          <p:cNvPr id="506" name="Google Shape;506;p19"/>
          <p:cNvSpPr/>
          <p:nvPr/>
        </p:nvSpPr>
        <p:spPr>
          <a:xfrm>
            <a:off x="8119870" y="1463040"/>
            <a:ext cx="3639312"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7" name="Google Shape;507;p19"/>
          <p:cNvSpPr txBox="1"/>
          <p:nvPr/>
        </p:nvSpPr>
        <p:spPr>
          <a:xfrm>
            <a:off x="8302750" y="1645920"/>
            <a:ext cx="3273552"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FFFFFF"/>
                </a:solidFill>
                <a:latin typeface="Quattrocento Sans"/>
                <a:ea typeface="Quattrocento Sans"/>
                <a:cs typeface="Quattrocento Sans"/>
                <a:sym typeface="Quattrocento Sans"/>
              </a:rPr>
              <a:t>🏗️ 3D Virtual Laboratory</a:t>
            </a:r>
            <a:endParaRPr/>
          </a:p>
          <a:p>
            <a:pPr indent="0" lvl="0" marL="0" marR="0" rtl="0" algn="l">
              <a:spcBef>
                <a:spcPts val="1400"/>
              </a:spcBef>
              <a:spcAft>
                <a:spcPts val="0"/>
              </a:spcAft>
              <a:buNone/>
            </a:pPr>
            <a:r>
              <a:rPr lang="en-US" sz="1300">
                <a:solidFill>
                  <a:srgbClr val="DCE6F2"/>
                </a:solidFill>
                <a:latin typeface="Quattrocento Sans"/>
                <a:ea typeface="Quattrocento Sans"/>
                <a:cs typeface="Quattrocento Sans"/>
                <a:sym typeface="Quattrocento Sans"/>
              </a:rPr>
              <a:t>•  Hardware-accelerated Three.js viewport permitting interactive orbital viewing and multi-angle architectural inspection.</a:t>
            </a:r>
            <a:endParaRPr/>
          </a:p>
        </p:txBody>
      </p:sp>
      <p:sp>
        <p:nvSpPr>
          <p:cNvPr id="508" name="Google Shape;508;p19"/>
          <p:cNvSpPr/>
          <p:nvPr/>
        </p:nvSpPr>
        <p:spPr>
          <a:xfrm>
            <a:off x="548640" y="3840480"/>
            <a:ext cx="3639312"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9" name="Google Shape;509;p19"/>
          <p:cNvSpPr txBox="1"/>
          <p:nvPr/>
        </p:nvSpPr>
        <p:spPr>
          <a:xfrm>
            <a:off x="731520" y="4023360"/>
            <a:ext cx="3273552"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FFFFFF"/>
                </a:solidFill>
                <a:latin typeface="Quattrocento Sans"/>
                <a:ea typeface="Quattrocento Sans"/>
                <a:cs typeface="Quattrocento Sans"/>
                <a:sym typeface="Quattrocento Sans"/>
              </a:rPr>
              <a:t>⚡ Automatic Detection Logic</a:t>
            </a:r>
            <a:endParaRPr/>
          </a:p>
          <a:p>
            <a:pPr indent="0" lvl="0" marL="0" marR="0" rtl="0" algn="l">
              <a:spcBef>
                <a:spcPts val="1400"/>
              </a:spcBef>
              <a:spcAft>
                <a:spcPts val="0"/>
              </a:spcAft>
              <a:buNone/>
            </a:pPr>
            <a:r>
              <a:rPr lang="en-US" sz="1300">
                <a:solidFill>
                  <a:srgbClr val="DCE6F2"/>
                </a:solidFill>
                <a:latin typeface="Quattrocento Sans"/>
                <a:ea typeface="Quattrocento Sans"/>
                <a:cs typeface="Quattrocento Sans"/>
                <a:sym typeface="Quattrocento Sans"/>
              </a:rPr>
              <a:t>•  Full autonomous onboarding and offboarding workflows eliminating manual administrator tracking interventions.</a:t>
            </a:r>
            <a:endParaRPr/>
          </a:p>
        </p:txBody>
      </p:sp>
      <p:sp>
        <p:nvSpPr>
          <p:cNvPr id="510" name="Google Shape;510;p19"/>
          <p:cNvSpPr/>
          <p:nvPr/>
        </p:nvSpPr>
        <p:spPr>
          <a:xfrm>
            <a:off x="4334255" y="3840480"/>
            <a:ext cx="3639312"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19"/>
          <p:cNvSpPr txBox="1"/>
          <p:nvPr/>
        </p:nvSpPr>
        <p:spPr>
          <a:xfrm>
            <a:off x="4517135" y="4023360"/>
            <a:ext cx="3273552"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FFFFFF"/>
                </a:solidFill>
                <a:latin typeface="Quattrocento Sans"/>
                <a:ea typeface="Quattrocento Sans"/>
                <a:cs typeface="Quattrocento Sans"/>
                <a:sym typeface="Quattrocento Sans"/>
              </a:rPr>
              <a:t>🔬 Research &amp; Thesis Ready</a:t>
            </a:r>
            <a:endParaRPr/>
          </a:p>
          <a:p>
            <a:pPr indent="0" lvl="0" marL="0" marR="0" rtl="0" algn="l">
              <a:spcBef>
                <a:spcPts val="1400"/>
              </a:spcBef>
              <a:spcAft>
                <a:spcPts val="0"/>
              </a:spcAft>
              <a:buNone/>
            </a:pPr>
            <a:r>
              <a:rPr lang="en-US" sz="1300">
                <a:solidFill>
                  <a:srgbClr val="DCE6F2"/>
                </a:solidFill>
                <a:latin typeface="Quattrocento Sans"/>
                <a:ea typeface="Quattrocento Sans"/>
                <a:cs typeface="Quattrocento Sans"/>
                <a:sym typeface="Quattrocento Sans"/>
              </a:rPr>
              <a:t>•  Designed explicitly for academic validation, supporting SQLite experimental session archiving and raw CSV analytical export.</a:t>
            </a:r>
            <a:endParaRPr/>
          </a:p>
        </p:txBody>
      </p:sp>
      <p:sp>
        <p:nvSpPr>
          <p:cNvPr id="512" name="Google Shape;512;p19"/>
          <p:cNvSpPr/>
          <p:nvPr/>
        </p:nvSpPr>
        <p:spPr>
          <a:xfrm>
            <a:off x="8119870" y="3840480"/>
            <a:ext cx="3639312"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19"/>
          <p:cNvSpPr txBox="1"/>
          <p:nvPr/>
        </p:nvSpPr>
        <p:spPr>
          <a:xfrm>
            <a:off x="8302750" y="4023360"/>
            <a:ext cx="3273552"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FFFFFF"/>
                </a:solidFill>
                <a:latin typeface="Quattrocento Sans"/>
                <a:ea typeface="Quattrocento Sans"/>
                <a:cs typeface="Quattrocento Sans"/>
                <a:sym typeface="Quattrocento Sans"/>
              </a:rPr>
              <a:t>🚀 Future Sensor Extensibility</a:t>
            </a:r>
            <a:endParaRPr/>
          </a:p>
          <a:p>
            <a:pPr indent="0" lvl="0" marL="0" marR="0" rtl="0" algn="l">
              <a:spcBef>
                <a:spcPts val="1400"/>
              </a:spcBef>
              <a:spcAft>
                <a:spcPts val="0"/>
              </a:spcAft>
              <a:buNone/>
            </a:pPr>
            <a:r>
              <a:rPr lang="en-US" sz="1300">
                <a:solidFill>
                  <a:srgbClr val="DCE6F2"/>
                </a:solidFill>
                <a:latin typeface="Quattrocento Sans"/>
                <a:ea typeface="Quattrocento Sans"/>
                <a:cs typeface="Quattrocento Sans"/>
                <a:sym typeface="Quattrocento Sans"/>
              </a:rPr>
              <a:t>•  Modular OOP abstract interfaces engineered to accept emerging Wi-Fi CSI, Ultra-Wideband (UWB), and mmWave radars.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20"/>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0" name="Google Shape;520;p20"/>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19. THESIS INNOVATION &amp; IMPACT</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Primary Research &amp; Academic Contributions</a:t>
            </a:r>
            <a:endParaRPr/>
          </a:p>
        </p:txBody>
      </p:sp>
      <p:sp>
        <p:nvSpPr>
          <p:cNvPr id="521" name="Google Shape;521;p20"/>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20"/>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20"/>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524" name="Google Shape;524;p20"/>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20 / 25</a:t>
            </a:r>
            <a:endParaRPr/>
          </a:p>
        </p:txBody>
      </p:sp>
      <p:sp>
        <p:nvSpPr>
          <p:cNvPr id="525" name="Google Shape;525;p20"/>
          <p:cNvSpPr/>
          <p:nvPr/>
        </p:nvSpPr>
        <p:spPr>
          <a:xfrm>
            <a:off x="548640" y="1463040"/>
            <a:ext cx="530352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20"/>
          <p:cNvSpPr txBox="1"/>
          <p:nvPr/>
        </p:nvSpPr>
        <p:spPr>
          <a:xfrm>
            <a:off x="731520" y="1645920"/>
            <a:ext cx="493776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1. Privacy-Preserving Monitoring</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Camera-Free Surveillance: </a:t>
            </a:r>
            <a:r>
              <a:rPr lang="en-US" sz="1300">
                <a:solidFill>
                  <a:srgbClr val="DCE6F2"/>
                </a:solidFill>
                <a:latin typeface="Quattrocento Sans"/>
                <a:ea typeface="Quattrocento Sans"/>
                <a:cs typeface="Quattrocento Sans"/>
                <a:sym typeface="Quattrocento Sans"/>
              </a:rPr>
              <a:t>Demonstrates successful multi-user indoor motion context awareness without optical cameras or facial identification.</a:t>
            </a:r>
            <a:endParaRPr/>
          </a:p>
          <a:p>
            <a:pPr indent="0" lvl="0" marL="0" marR="0" rtl="0" algn="l">
              <a:spcBef>
                <a:spcPts val="1000"/>
              </a:spcBef>
              <a:spcAft>
                <a:spcPts val="0"/>
              </a:spcAft>
              <a:buNone/>
            </a:pPr>
            <a:r>
              <a:rPr b="1" lang="en-US" sz="1300">
                <a:solidFill>
                  <a:srgbClr val="38DAEC"/>
                </a:solidFill>
                <a:latin typeface="Quattrocento Sans"/>
                <a:ea typeface="Quattrocento Sans"/>
                <a:cs typeface="Quattrocento Sans"/>
                <a:sym typeface="Quattrocento Sans"/>
              </a:rPr>
              <a:t>•  Ethical Compliance: </a:t>
            </a:r>
            <a:r>
              <a:rPr lang="en-US" sz="1300">
                <a:solidFill>
                  <a:srgbClr val="DCE6F2"/>
                </a:solidFill>
                <a:latin typeface="Quattrocento Sans"/>
                <a:ea typeface="Quattrocento Sans"/>
                <a:cs typeface="Quattrocento Sans"/>
                <a:sym typeface="Quattrocento Sans"/>
              </a:rPr>
              <a:t>Provides an academic blueprint for secure deployments in privacy-sensitive living quarters and R&amp;D clean rooms.</a:t>
            </a:r>
            <a:endParaRPr/>
          </a:p>
        </p:txBody>
      </p:sp>
      <p:sp>
        <p:nvSpPr>
          <p:cNvPr id="527" name="Google Shape;527;p20"/>
          <p:cNvSpPr/>
          <p:nvPr/>
        </p:nvSpPr>
        <p:spPr>
          <a:xfrm>
            <a:off x="6217920" y="1463040"/>
            <a:ext cx="5394960"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20"/>
          <p:cNvSpPr txBox="1"/>
          <p:nvPr/>
        </p:nvSpPr>
        <p:spPr>
          <a:xfrm>
            <a:off x="6400800" y="1645920"/>
            <a:ext cx="502920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2. Enterprise Digital Twin Framework</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Full-Stack Software Synthesis: </a:t>
            </a:r>
            <a:r>
              <a:rPr lang="en-US" sz="1300">
                <a:solidFill>
                  <a:srgbClr val="DCE6F2"/>
                </a:solidFill>
                <a:latin typeface="Quattrocento Sans"/>
                <a:ea typeface="Quattrocento Sans"/>
                <a:cs typeface="Quattrocento Sans"/>
                <a:sym typeface="Quattrocento Sans"/>
              </a:rPr>
              <a:t>Bridges low-level routing protocol scraping with modern asynchronous Python WebSockets and React 3D rendering.</a:t>
            </a:r>
            <a:endParaRPr/>
          </a:p>
          <a:p>
            <a:pPr indent="0" lvl="0" marL="0" marR="0" rtl="0" algn="l">
              <a:spcBef>
                <a:spcPts val="1000"/>
              </a:spcBef>
              <a:spcAft>
                <a:spcPts val="0"/>
              </a:spcAft>
              <a:buNone/>
            </a:pPr>
            <a:r>
              <a:rPr b="1" lang="en-US" sz="1300">
                <a:solidFill>
                  <a:srgbClr val="38DAEC"/>
                </a:solidFill>
                <a:latin typeface="Quattrocento Sans"/>
                <a:ea typeface="Quattrocento Sans"/>
                <a:cs typeface="Quattrocento Sans"/>
                <a:sym typeface="Quattrocento Sans"/>
              </a:rPr>
              <a:t>•  Turnkey Research Testbed: </a:t>
            </a:r>
            <a:r>
              <a:rPr lang="en-US" sz="1300">
                <a:solidFill>
                  <a:srgbClr val="DCE6F2"/>
                </a:solidFill>
                <a:latin typeface="Quattrocento Sans"/>
                <a:ea typeface="Quattrocento Sans"/>
                <a:cs typeface="Quattrocento Sans"/>
                <a:sym typeface="Quattrocento Sans"/>
              </a:rPr>
              <a:t>Establishes a reproducible laboratory bench for conducting reproducible human localization trials.</a:t>
            </a:r>
            <a:endParaRPr/>
          </a:p>
        </p:txBody>
      </p:sp>
      <p:sp>
        <p:nvSpPr>
          <p:cNvPr id="529" name="Google Shape;529;p20"/>
          <p:cNvSpPr/>
          <p:nvPr/>
        </p:nvSpPr>
        <p:spPr>
          <a:xfrm>
            <a:off x="548640" y="3977639"/>
            <a:ext cx="5303520" cy="224028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20"/>
          <p:cNvSpPr txBox="1"/>
          <p:nvPr/>
        </p:nvSpPr>
        <p:spPr>
          <a:xfrm>
            <a:off x="731520" y="4160519"/>
            <a:ext cx="493776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3. Real-Time State Synchronization</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Low-Latency Telemetry Streaming: </a:t>
            </a:r>
            <a:r>
              <a:rPr lang="en-US" sz="1300">
                <a:solidFill>
                  <a:srgbClr val="DCE6F2"/>
                </a:solidFill>
                <a:latin typeface="Quattrocento Sans"/>
                <a:ea typeface="Quattrocento Sans"/>
                <a:cs typeface="Quattrocento Sans"/>
                <a:sym typeface="Quattrocento Sans"/>
              </a:rPr>
              <a:t>Formulates an asynchronous event engine handling sub-second RSSI updates across concurrent network client sessions.</a:t>
            </a:r>
            <a:endParaRPr/>
          </a:p>
          <a:p>
            <a:pPr indent="0" lvl="0" marL="0" marR="0" rtl="0" algn="l">
              <a:spcBef>
                <a:spcPts val="1000"/>
              </a:spcBef>
              <a:spcAft>
                <a:spcPts val="0"/>
              </a:spcAft>
              <a:buNone/>
            </a:pPr>
            <a:r>
              <a:rPr b="1" lang="en-US" sz="1300">
                <a:solidFill>
                  <a:srgbClr val="38DAEC"/>
                </a:solidFill>
                <a:latin typeface="Quattrocento Sans"/>
                <a:ea typeface="Quattrocento Sans"/>
                <a:cs typeface="Quattrocento Sans"/>
                <a:sym typeface="Quattrocento Sans"/>
              </a:rPr>
              <a:t>•  Noise Suppression Math: </a:t>
            </a:r>
            <a:r>
              <a:rPr lang="en-US" sz="1300">
                <a:solidFill>
                  <a:srgbClr val="DCE6F2"/>
                </a:solidFill>
                <a:latin typeface="Quattrocento Sans"/>
                <a:ea typeface="Quattrocento Sans"/>
                <a:cs typeface="Quattrocento Sans"/>
                <a:sym typeface="Quattrocento Sans"/>
              </a:rPr>
              <a:t>Validates Exponential Moving Average (EMA) filtering algorithms for stabilizing indoor room multipath interference.</a:t>
            </a:r>
            <a:endParaRPr/>
          </a:p>
        </p:txBody>
      </p:sp>
      <p:sp>
        <p:nvSpPr>
          <p:cNvPr id="531" name="Google Shape;531;p20"/>
          <p:cNvSpPr/>
          <p:nvPr/>
        </p:nvSpPr>
        <p:spPr>
          <a:xfrm>
            <a:off x="6217920" y="3977639"/>
            <a:ext cx="5394960" cy="224028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20"/>
          <p:cNvSpPr txBox="1"/>
          <p:nvPr/>
        </p:nvSpPr>
        <p:spPr>
          <a:xfrm>
            <a:off x="6400800" y="4160519"/>
            <a:ext cx="5029200" cy="1874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FFFFFF"/>
                </a:solidFill>
                <a:latin typeface="Quattrocento Sans"/>
                <a:ea typeface="Quattrocento Sans"/>
                <a:cs typeface="Quattrocento Sans"/>
                <a:sym typeface="Quattrocento Sans"/>
              </a:rPr>
              <a:t>🚀 4. Scalable Localization Architecture</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Zero-Client Passive Tracking: </a:t>
            </a:r>
            <a:r>
              <a:rPr lang="en-US" sz="1300">
                <a:solidFill>
                  <a:srgbClr val="DCE6F2"/>
                </a:solidFill>
                <a:latin typeface="Quattrocento Sans"/>
                <a:ea typeface="Quattrocento Sans"/>
                <a:cs typeface="Quattrocento Sans"/>
                <a:sym typeface="Quattrocento Sans"/>
              </a:rPr>
              <a:t>Requires zero mobile app installations—piggybacks on ambient enterprise campus Wi-Fi infrastructure.</a:t>
            </a:r>
            <a:endParaRPr/>
          </a:p>
          <a:p>
            <a:pPr indent="0" lvl="0" marL="0" marR="0" rtl="0" algn="l">
              <a:spcBef>
                <a:spcPts val="1000"/>
              </a:spcBef>
              <a:spcAft>
                <a:spcPts val="0"/>
              </a:spcAft>
              <a:buNone/>
            </a:pPr>
            <a:r>
              <a:rPr b="1" lang="en-US" sz="1300">
                <a:solidFill>
                  <a:srgbClr val="38DAEC"/>
                </a:solidFill>
                <a:latin typeface="Quattrocento Sans"/>
                <a:ea typeface="Quattrocento Sans"/>
                <a:cs typeface="Quattrocento Sans"/>
                <a:sym typeface="Quattrocento Sans"/>
              </a:rPr>
              <a:t>•  Extensible Hardware Roadmap: </a:t>
            </a:r>
            <a:r>
              <a:rPr lang="en-US" sz="1300">
                <a:solidFill>
                  <a:srgbClr val="DCE6F2"/>
                </a:solidFill>
                <a:latin typeface="Quattrocento Sans"/>
                <a:ea typeface="Quattrocento Sans"/>
                <a:cs typeface="Quattrocento Sans"/>
                <a:sym typeface="Quattrocento Sans"/>
              </a:rPr>
              <a:t>Lays foundational software architecture for upcoming multi-router trilateration and Channel State Information (CSI) fusion.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21"/>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21"/>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20. SCIENTIFIC CRITIQUE &amp; CONSTRAINTS</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Current System Limitations &amp; Scientific Boundaries</a:t>
            </a:r>
            <a:endParaRPr/>
          </a:p>
        </p:txBody>
      </p:sp>
      <p:sp>
        <p:nvSpPr>
          <p:cNvPr id="540" name="Google Shape;540;p21"/>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21"/>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21"/>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543" name="Google Shape;543;p21"/>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21 / 25</a:t>
            </a:r>
            <a:endParaRPr/>
          </a:p>
        </p:txBody>
      </p:sp>
      <p:sp>
        <p:nvSpPr>
          <p:cNvPr id="544" name="Google Shape;544;p21"/>
          <p:cNvSpPr/>
          <p:nvPr/>
        </p:nvSpPr>
        <p:spPr>
          <a:xfrm>
            <a:off x="548640" y="1463040"/>
            <a:ext cx="5303520" cy="4663440"/>
          </a:xfrm>
          <a:prstGeom prst="roundRect">
            <a:avLst>
              <a:gd fmla="val 16667" name="adj"/>
            </a:avLst>
          </a:prstGeom>
          <a:solidFill>
            <a:srgbClr val="201528"/>
          </a:solidFill>
          <a:ln cap="flat" cmpd="sng" w="19050">
            <a:solidFill>
              <a:srgbClr val="FF5F6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21"/>
          <p:cNvSpPr txBox="1"/>
          <p:nvPr/>
        </p:nvSpPr>
        <p:spPr>
          <a:xfrm>
            <a:off x="731520" y="1645920"/>
            <a:ext cx="493776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Quattrocento Sans"/>
                <a:ea typeface="Quattrocento Sans"/>
                <a:cs typeface="Quattrocento Sans"/>
                <a:sym typeface="Quattrocento Sans"/>
              </a:rPr>
              <a:t>🛑 Hardware &amp; Signal Limitations</a:t>
            </a:r>
            <a:endParaRPr/>
          </a:p>
          <a:p>
            <a:pPr indent="0" lvl="0" marL="0" marR="0" rtl="0" algn="l">
              <a:spcBef>
                <a:spcPts val="1500"/>
              </a:spcBef>
              <a:spcAft>
                <a:spcPts val="0"/>
              </a:spcAft>
              <a:buNone/>
            </a:pPr>
            <a:r>
              <a:rPr b="1" lang="en-US" sz="1200">
                <a:solidFill>
                  <a:srgbClr val="38DAEC"/>
                </a:solidFill>
                <a:latin typeface="Quattrocento Sans"/>
                <a:ea typeface="Quattrocento Sans"/>
                <a:cs typeface="Quattrocento Sans"/>
                <a:sym typeface="Quattrocento Sans"/>
              </a:rPr>
              <a:t>•  Single-Router Radial Boundary: </a:t>
            </a:r>
            <a:r>
              <a:rPr lang="en-US" sz="1200">
                <a:solidFill>
                  <a:srgbClr val="DCE6F2"/>
                </a:solidFill>
                <a:latin typeface="Quattrocento Sans"/>
                <a:ea typeface="Quattrocento Sans"/>
                <a:cs typeface="Quattrocento Sans"/>
                <a:sym typeface="Quattrocento Sans"/>
              </a:rPr>
              <a:t>A single Access Point only measures signal power attenuation along an omnidirectional radius; it cannot infer directional angular bearing.</a:t>
            </a:r>
            <a:endParaRPr/>
          </a:p>
          <a:p>
            <a:pPr indent="0" lvl="0" marL="0" marR="0" rtl="0" algn="l">
              <a:spcBef>
                <a:spcPts val="1100"/>
              </a:spcBef>
              <a:spcAft>
                <a:spcPts val="0"/>
              </a:spcAft>
              <a:buNone/>
            </a:pPr>
            <a:r>
              <a:rPr b="1" lang="en-US" sz="1200">
                <a:solidFill>
                  <a:srgbClr val="38DAEC"/>
                </a:solidFill>
                <a:latin typeface="Quattrocento Sans"/>
                <a:ea typeface="Quattrocento Sans"/>
                <a:cs typeface="Quattrocento Sans"/>
                <a:sym typeface="Quattrocento Sans"/>
              </a:rPr>
              <a:t>•  RSSI Environmental Noise: </a:t>
            </a:r>
            <a:r>
              <a:rPr lang="en-US" sz="1200">
                <a:solidFill>
                  <a:srgbClr val="DCE6F2"/>
                </a:solidFill>
                <a:latin typeface="Quattrocento Sans"/>
                <a:ea typeface="Quattrocento Sans"/>
                <a:cs typeface="Quattrocento Sans"/>
                <a:sym typeface="Quattrocento Sans"/>
              </a:rPr>
              <a:t>Ambient 2.4/5 GHz signals undergo severe fluctuation caused by localized electromagnetic interference and room temperature humidity.</a:t>
            </a:r>
            <a:endParaRPr/>
          </a:p>
          <a:p>
            <a:pPr indent="0" lvl="0" marL="0" marR="0" rtl="0" algn="l">
              <a:spcBef>
                <a:spcPts val="1100"/>
              </a:spcBef>
              <a:spcAft>
                <a:spcPts val="0"/>
              </a:spcAft>
              <a:buNone/>
            </a:pPr>
            <a:r>
              <a:rPr b="1" lang="en-US" sz="1200">
                <a:solidFill>
                  <a:srgbClr val="38DAEC"/>
                </a:solidFill>
                <a:latin typeface="Quattrocento Sans"/>
                <a:ea typeface="Quattrocento Sans"/>
                <a:cs typeface="Quattrocento Sans"/>
                <a:sym typeface="Quattrocento Sans"/>
              </a:rPr>
              <a:t>•  Multipath Wall Reflections: </a:t>
            </a:r>
            <a:r>
              <a:rPr lang="en-US" sz="1200">
                <a:solidFill>
                  <a:srgbClr val="DCE6F2"/>
                </a:solidFill>
                <a:latin typeface="Quattrocento Sans"/>
                <a:ea typeface="Quattrocento Sans"/>
                <a:cs typeface="Quattrocento Sans"/>
                <a:sym typeface="Quattrocento Sans"/>
              </a:rPr>
              <a:t>Radio waves bounce off concrete walls, metallic file cabinets, and glass partitions, inducing destructive interference vectors.</a:t>
            </a:r>
            <a:endParaRPr/>
          </a:p>
          <a:p>
            <a:pPr indent="0" lvl="0" marL="0" marR="0" rtl="0" algn="l">
              <a:spcBef>
                <a:spcPts val="1100"/>
              </a:spcBef>
              <a:spcAft>
                <a:spcPts val="0"/>
              </a:spcAft>
              <a:buNone/>
            </a:pPr>
            <a:r>
              <a:rPr b="1" lang="en-US" sz="1200">
                <a:solidFill>
                  <a:srgbClr val="38DAEC"/>
                </a:solidFill>
                <a:latin typeface="Quattrocento Sans"/>
                <a:ea typeface="Quattrocento Sans"/>
                <a:cs typeface="Quattrocento Sans"/>
                <a:sym typeface="Quattrocento Sans"/>
              </a:rPr>
              <a:t>•  Human Body Attenuation: </a:t>
            </a:r>
            <a:r>
              <a:rPr lang="en-US" sz="1200">
                <a:solidFill>
                  <a:srgbClr val="DCE6F2"/>
                </a:solidFill>
                <a:latin typeface="Quattrocento Sans"/>
                <a:ea typeface="Quattrocento Sans"/>
                <a:cs typeface="Quattrocento Sans"/>
                <a:sym typeface="Quattrocento Sans"/>
              </a:rPr>
              <a:t>The human body consists largely of water and absorbs RF radiation; a subject turning their back to the router causes drop in measured dBm.</a:t>
            </a:r>
            <a:endParaRPr/>
          </a:p>
          <a:p>
            <a:pPr indent="0" lvl="0" marL="0" marR="0" rtl="0" algn="l">
              <a:spcBef>
                <a:spcPts val="1100"/>
              </a:spcBef>
              <a:spcAft>
                <a:spcPts val="0"/>
              </a:spcAft>
              <a:buNone/>
            </a:pPr>
            <a:r>
              <a:rPr b="1" lang="en-US" sz="1200">
                <a:solidFill>
                  <a:srgbClr val="38DAEC"/>
                </a:solidFill>
                <a:latin typeface="Quattrocento Sans"/>
                <a:ea typeface="Quattrocento Sans"/>
                <a:cs typeface="Quattrocento Sans"/>
                <a:sym typeface="Quattrocento Sans"/>
              </a:rPr>
              <a:t>•  Antenna Diversity Offsets: </a:t>
            </a:r>
            <a:r>
              <a:rPr lang="en-US" sz="1200">
                <a:solidFill>
                  <a:srgbClr val="DCE6F2"/>
                </a:solidFill>
                <a:latin typeface="Quattrocento Sans"/>
                <a:ea typeface="Quattrocento Sans"/>
                <a:cs typeface="Quattrocento Sans"/>
                <a:sym typeface="Quattrocento Sans"/>
              </a:rPr>
              <a:t>Different commercial smartphone brands utilize differing internal antenna gains, requiring calibration normalization across devices.</a:t>
            </a:r>
            <a:endParaRPr/>
          </a:p>
        </p:txBody>
      </p:sp>
      <p:sp>
        <p:nvSpPr>
          <p:cNvPr id="546" name="Google Shape;546;p21"/>
          <p:cNvSpPr/>
          <p:nvPr/>
        </p:nvSpPr>
        <p:spPr>
          <a:xfrm>
            <a:off x="6217920" y="1463040"/>
            <a:ext cx="5394960" cy="4663440"/>
          </a:xfrm>
          <a:prstGeom prst="roundRect">
            <a:avLst>
              <a:gd fmla="val 16667" name="adj"/>
            </a:avLst>
          </a:prstGeom>
          <a:solidFill>
            <a:srgbClr val="152342"/>
          </a:solidFill>
          <a:ln cap="flat" cmpd="sng" w="19050">
            <a:solidFill>
              <a:srgbClr val="FF5F6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21"/>
          <p:cNvSpPr txBox="1"/>
          <p:nvPr/>
        </p:nvSpPr>
        <p:spPr>
          <a:xfrm>
            <a:off x="6400800" y="1645920"/>
            <a:ext cx="502920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Quattrocento Sans"/>
                <a:ea typeface="Quattrocento Sans"/>
                <a:cs typeface="Quattrocento Sans"/>
                <a:sym typeface="Quattrocento Sans"/>
              </a:rPr>
              <a:t>⚠️ Architectural &amp; Accuracy Boundaries</a:t>
            </a:r>
            <a:endParaRPr/>
          </a:p>
          <a:p>
            <a:pPr indent="0" lvl="0" marL="0" marR="0" rtl="0" algn="l">
              <a:spcBef>
                <a:spcPts val="1500"/>
              </a:spcBef>
              <a:spcAft>
                <a:spcPts val="0"/>
              </a:spcAft>
              <a:buNone/>
            </a:pPr>
            <a:r>
              <a:rPr b="1" lang="en-US" sz="1200">
                <a:solidFill>
                  <a:srgbClr val="38DAEC"/>
                </a:solidFill>
                <a:latin typeface="Quattrocento Sans"/>
                <a:ea typeface="Quattrocento Sans"/>
                <a:cs typeface="Quattrocento Sans"/>
                <a:sym typeface="Quattrocento Sans"/>
              </a:rPr>
              <a:t>•  Estimated Distance vs. Exact Position: </a:t>
            </a:r>
            <a:r>
              <a:rPr lang="en-US" sz="1200">
                <a:solidFill>
                  <a:srgbClr val="DCE6F2"/>
                </a:solidFill>
                <a:latin typeface="Quattrocento Sans"/>
                <a:ea typeface="Quattrocento Sans"/>
                <a:cs typeface="Quattrocento Sans"/>
                <a:sym typeface="Quattrocento Sans"/>
              </a:rPr>
              <a:t>The present software iteration yields a spatial radial confidence zone (e.g., 3.0m ± 0.5m), NOT centimeter-level Cartesian pinpoints.</a:t>
            </a:r>
            <a:endParaRPr/>
          </a:p>
          <a:p>
            <a:pPr indent="0" lvl="0" marL="0" marR="0" rtl="0" algn="l">
              <a:spcBef>
                <a:spcPts val="1100"/>
              </a:spcBef>
              <a:spcAft>
                <a:spcPts val="0"/>
              </a:spcAft>
              <a:buNone/>
            </a:pPr>
            <a:r>
              <a:rPr b="1" lang="en-US" sz="1200">
                <a:solidFill>
                  <a:srgbClr val="38DAEC"/>
                </a:solidFill>
                <a:latin typeface="Quattrocento Sans"/>
                <a:ea typeface="Quattrocento Sans"/>
                <a:cs typeface="Quattrocento Sans"/>
                <a:sym typeface="Quattrocento Sans"/>
              </a:rPr>
              <a:t>•  Mobile Power-Saving Modes: </a:t>
            </a:r>
            <a:r>
              <a:rPr lang="en-US" sz="1200">
                <a:solidFill>
                  <a:srgbClr val="DCE6F2"/>
                </a:solidFill>
                <a:latin typeface="Quattrocento Sans"/>
                <a:ea typeface="Quattrocento Sans"/>
                <a:cs typeface="Quattrocento Sans"/>
                <a:sym typeface="Quattrocento Sans"/>
              </a:rPr>
              <a:t>Modern smartphone operating systems deploy aggressive Wi-Fi sleep schedules during inactivity, causing transient RSSI polling pauses.</a:t>
            </a:r>
            <a:endParaRPr/>
          </a:p>
          <a:p>
            <a:pPr indent="0" lvl="0" marL="0" marR="0" rtl="0" algn="l">
              <a:spcBef>
                <a:spcPts val="1100"/>
              </a:spcBef>
              <a:spcAft>
                <a:spcPts val="0"/>
              </a:spcAft>
              <a:buNone/>
            </a:pPr>
            <a:r>
              <a:rPr b="1" lang="en-US" sz="1200">
                <a:solidFill>
                  <a:srgbClr val="38DAEC"/>
                </a:solidFill>
                <a:latin typeface="Quattrocento Sans"/>
                <a:ea typeface="Quattrocento Sans"/>
                <a:cs typeface="Quattrocento Sans"/>
                <a:sym typeface="Quattrocento Sans"/>
              </a:rPr>
              <a:t>•  Polling Refresh Thresholds: </a:t>
            </a:r>
            <a:r>
              <a:rPr lang="en-US" sz="1200">
                <a:solidFill>
                  <a:srgbClr val="DCE6F2"/>
                </a:solidFill>
                <a:latin typeface="Quattrocento Sans"/>
                <a:ea typeface="Quattrocento Sans"/>
                <a:cs typeface="Quattrocento Sans"/>
                <a:sym typeface="Quattrocento Sans"/>
              </a:rPr>
              <a:t>To prevent overwhelming router firmware CPU limits, RSSI polling intervals are throttled to 500ms–1000ms frequency increments.</a:t>
            </a:r>
            <a:endParaRPr/>
          </a:p>
          <a:p>
            <a:pPr indent="0" lvl="0" marL="0" marR="0" rtl="0" algn="l">
              <a:spcBef>
                <a:spcPts val="1100"/>
              </a:spcBef>
              <a:spcAft>
                <a:spcPts val="0"/>
              </a:spcAft>
              <a:buNone/>
            </a:pPr>
            <a:r>
              <a:rPr b="1" lang="en-US" sz="1200">
                <a:solidFill>
                  <a:srgbClr val="38DAEC"/>
                </a:solidFill>
                <a:latin typeface="Quattrocento Sans"/>
                <a:ea typeface="Quattrocento Sans"/>
                <a:cs typeface="Quattrocento Sans"/>
                <a:sym typeface="Quattrocento Sans"/>
              </a:rPr>
              <a:t>•  Single Room Scope: </a:t>
            </a:r>
            <a:r>
              <a:rPr lang="en-US" sz="1200">
                <a:solidFill>
                  <a:srgbClr val="DCE6F2"/>
                </a:solidFill>
                <a:latin typeface="Quattrocento Sans"/>
                <a:ea typeface="Quattrocento Sans"/>
                <a:cs typeface="Quattrocento Sans"/>
                <a:sym typeface="Quattrocento Sans"/>
              </a:rPr>
              <a:t>Present testing validation is optimized for bounded indoor laboratory rooms rather than multi-floor campus environments.</a:t>
            </a:r>
            <a:endParaRPr/>
          </a:p>
          <a:p>
            <a:pPr indent="0" lvl="0" marL="0" marR="0" rtl="0" algn="l">
              <a:spcBef>
                <a:spcPts val="1100"/>
              </a:spcBef>
              <a:spcAft>
                <a:spcPts val="0"/>
              </a:spcAft>
              <a:buNone/>
            </a:pPr>
            <a:r>
              <a:rPr b="1" lang="en-US" sz="1200">
                <a:solidFill>
                  <a:srgbClr val="38DAEC"/>
                </a:solidFill>
                <a:latin typeface="Quattrocento Sans"/>
                <a:ea typeface="Quattrocento Sans"/>
                <a:cs typeface="Quattrocento Sans"/>
                <a:sym typeface="Quattrocento Sans"/>
              </a:rPr>
              <a:t>•  Academic Clarity: </a:t>
            </a:r>
            <a:r>
              <a:rPr lang="en-US" sz="1200">
                <a:solidFill>
                  <a:srgbClr val="DCE6F2"/>
                </a:solidFill>
                <a:latin typeface="Quattrocento Sans"/>
                <a:ea typeface="Quattrocento Sans"/>
                <a:cs typeface="Quattrocento Sans"/>
                <a:sym typeface="Quattrocento Sans"/>
              </a:rPr>
              <a:t>Our graphical dashboard incorporates explicit visual disclaimers to ensure researchers never mistake radial estimates for exact fixes.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22"/>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22"/>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21. ADVANCEMENT ROADMAP</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Future Scope &amp; Next-Gen Sensor Roadmap</a:t>
            </a:r>
            <a:endParaRPr/>
          </a:p>
        </p:txBody>
      </p:sp>
      <p:sp>
        <p:nvSpPr>
          <p:cNvPr id="555" name="Google Shape;555;p22"/>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22"/>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22"/>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558" name="Google Shape;558;p22"/>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22 / 25</a:t>
            </a:r>
            <a:endParaRPr/>
          </a:p>
        </p:txBody>
      </p:sp>
      <p:sp>
        <p:nvSpPr>
          <p:cNvPr id="559" name="Google Shape;559;p22"/>
          <p:cNvSpPr/>
          <p:nvPr/>
        </p:nvSpPr>
        <p:spPr>
          <a:xfrm>
            <a:off x="548640" y="1463040"/>
            <a:ext cx="3474720" cy="466344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22"/>
          <p:cNvSpPr txBox="1"/>
          <p:nvPr/>
        </p:nvSpPr>
        <p:spPr>
          <a:xfrm>
            <a:off x="731520" y="1645920"/>
            <a:ext cx="310896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Quattrocento Sans"/>
                <a:ea typeface="Quattrocento Sans"/>
                <a:cs typeface="Quattrocento Sans"/>
                <a:sym typeface="Quattrocento Sans"/>
              </a:rPr>
              <a:t>🚀 Tier 1: Advanced Hardware</a:t>
            </a:r>
            <a:endParaRPr/>
          </a:p>
          <a:p>
            <a:pPr indent="0" lvl="0" marL="0" marR="0" rtl="0" algn="l">
              <a:spcBef>
                <a:spcPts val="1800"/>
              </a:spcBef>
              <a:spcAft>
                <a:spcPts val="0"/>
              </a:spcAft>
              <a:buNone/>
            </a:pPr>
            <a:r>
              <a:rPr b="1" lang="en-US" sz="1250">
                <a:solidFill>
                  <a:srgbClr val="38DAEC"/>
                </a:solidFill>
                <a:latin typeface="Quattrocento Sans"/>
                <a:ea typeface="Quattrocento Sans"/>
                <a:cs typeface="Quattrocento Sans"/>
                <a:sym typeface="Quattrocento Sans"/>
              </a:rPr>
              <a:t>•  Wi-Fi CSI Integration: </a:t>
            </a:r>
            <a:r>
              <a:rPr lang="en-US" sz="1250">
                <a:solidFill>
                  <a:srgbClr val="DCE6F2"/>
                </a:solidFill>
                <a:latin typeface="Quattrocento Sans"/>
                <a:ea typeface="Quattrocento Sans"/>
                <a:cs typeface="Quattrocento Sans"/>
                <a:sym typeface="Quattrocento Sans"/>
              </a:rPr>
              <a:t>Harnessing Channel State Information orthogonal frequency subcarriers to extract micro-Doppler human breathing and gait signatures.</a:t>
            </a:r>
            <a:endParaRPr/>
          </a:p>
          <a:p>
            <a:pPr indent="0" lvl="0" marL="0" marR="0" rtl="0" algn="l">
              <a:spcBef>
                <a:spcPts val="1400"/>
              </a:spcBef>
              <a:spcAft>
                <a:spcPts val="0"/>
              </a:spcAft>
              <a:buNone/>
            </a:pPr>
            <a:r>
              <a:rPr b="1" lang="en-US" sz="1250">
                <a:solidFill>
                  <a:srgbClr val="38DAEC"/>
                </a:solidFill>
                <a:latin typeface="Quattrocento Sans"/>
                <a:ea typeface="Quattrocento Sans"/>
                <a:cs typeface="Quattrocento Sans"/>
                <a:sym typeface="Quattrocento Sans"/>
              </a:rPr>
              <a:t>•  mmWave Radar &amp; UWB: </a:t>
            </a:r>
            <a:r>
              <a:rPr lang="en-US" sz="1250">
                <a:solidFill>
                  <a:srgbClr val="DCE6F2"/>
                </a:solidFill>
                <a:latin typeface="Quattrocento Sans"/>
                <a:ea typeface="Quattrocento Sans"/>
                <a:cs typeface="Quattrocento Sans"/>
                <a:sym typeface="Quattrocento Sans"/>
              </a:rPr>
              <a:t>Integrating 60GHz millimeter-wave radar modules and Ultra-Wideband anchors for ultra-precise sub-centimeter point clouds.</a:t>
            </a:r>
            <a:endParaRPr/>
          </a:p>
          <a:p>
            <a:pPr indent="0" lvl="0" marL="0" marR="0" rtl="0" algn="l">
              <a:spcBef>
                <a:spcPts val="1400"/>
              </a:spcBef>
              <a:spcAft>
                <a:spcPts val="0"/>
              </a:spcAft>
              <a:buNone/>
            </a:pPr>
            <a:r>
              <a:rPr b="1" lang="en-US" sz="1250">
                <a:solidFill>
                  <a:srgbClr val="38DAEC"/>
                </a:solidFill>
                <a:latin typeface="Quattrocento Sans"/>
                <a:ea typeface="Quattrocento Sans"/>
                <a:cs typeface="Quattrocento Sans"/>
                <a:sym typeface="Quattrocento Sans"/>
              </a:rPr>
              <a:t>•  BLE Angle of Arrival (AoA): </a:t>
            </a:r>
            <a:r>
              <a:rPr lang="en-US" sz="1250">
                <a:solidFill>
                  <a:srgbClr val="DCE6F2"/>
                </a:solidFill>
                <a:latin typeface="Quattrocento Sans"/>
                <a:ea typeface="Quattrocento Sans"/>
                <a:cs typeface="Quattrocento Sans"/>
                <a:sym typeface="Quattrocento Sans"/>
              </a:rPr>
              <a:t>Deploying Bluetooth Low Energy multi-antenna arrays to compute direct directional angular vectors without triangulation.</a:t>
            </a:r>
            <a:endParaRPr/>
          </a:p>
        </p:txBody>
      </p:sp>
      <p:sp>
        <p:nvSpPr>
          <p:cNvPr id="561" name="Google Shape;561;p22"/>
          <p:cNvSpPr/>
          <p:nvPr/>
        </p:nvSpPr>
        <p:spPr>
          <a:xfrm>
            <a:off x="4297680" y="1463040"/>
            <a:ext cx="3474720" cy="4663440"/>
          </a:xfrm>
          <a:prstGeom prst="roundRect">
            <a:avLst>
              <a:gd fmla="val 16667" name="adj"/>
            </a:avLst>
          </a:prstGeom>
          <a:solidFill>
            <a:srgbClr val="1D3058"/>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22"/>
          <p:cNvSpPr txBox="1"/>
          <p:nvPr/>
        </p:nvSpPr>
        <p:spPr>
          <a:xfrm>
            <a:off x="4480560" y="1645920"/>
            <a:ext cx="310896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Quattrocento Sans"/>
                <a:ea typeface="Quattrocento Sans"/>
                <a:cs typeface="Quattrocento Sans"/>
                <a:sym typeface="Quattrocento Sans"/>
              </a:rPr>
              <a:t>🧠 Tier 2: AI &amp; Algorithms</a:t>
            </a:r>
            <a:endParaRPr/>
          </a:p>
          <a:p>
            <a:pPr indent="0" lvl="0" marL="0" marR="0" rtl="0" algn="l">
              <a:spcBef>
                <a:spcPts val="1800"/>
              </a:spcBef>
              <a:spcAft>
                <a:spcPts val="0"/>
              </a:spcAft>
              <a:buNone/>
            </a:pPr>
            <a:r>
              <a:rPr b="1" lang="en-US" sz="1250">
                <a:solidFill>
                  <a:srgbClr val="38DAEC"/>
                </a:solidFill>
                <a:latin typeface="Quattrocento Sans"/>
                <a:ea typeface="Quattrocento Sans"/>
                <a:cs typeface="Quattrocento Sans"/>
                <a:sym typeface="Quattrocento Sans"/>
              </a:rPr>
              <a:t>•  AI Pose &amp; Gait Estimation: </a:t>
            </a:r>
            <a:r>
              <a:rPr lang="en-US" sz="1250">
                <a:solidFill>
                  <a:srgbClr val="DCE6F2"/>
                </a:solidFill>
                <a:latin typeface="Quattrocento Sans"/>
                <a:ea typeface="Quattrocento Sans"/>
                <a:cs typeface="Quattrocento Sans"/>
                <a:sym typeface="Quattrocento Sans"/>
              </a:rPr>
              <a:t>Training Deep Convolutional Neural Networks (CNN/LSTM) directly on wireless CSI streams for non-camera skeletal gait tracking.</a:t>
            </a:r>
            <a:endParaRPr/>
          </a:p>
          <a:p>
            <a:pPr indent="0" lvl="0" marL="0" marR="0" rtl="0" algn="l">
              <a:spcBef>
                <a:spcPts val="1400"/>
              </a:spcBef>
              <a:spcAft>
                <a:spcPts val="0"/>
              </a:spcAft>
              <a:buNone/>
            </a:pPr>
            <a:r>
              <a:rPr b="1" lang="en-US" sz="1250">
                <a:solidFill>
                  <a:srgbClr val="38DAEC"/>
                </a:solidFill>
                <a:latin typeface="Quattrocento Sans"/>
                <a:ea typeface="Quattrocento Sans"/>
                <a:cs typeface="Quattrocento Sans"/>
                <a:sym typeface="Quattrocento Sans"/>
              </a:rPr>
              <a:t>•  Multi-Router Trilateration: </a:t>
            </a:r>
            <a:r>
              <a:rPr lang="en-US" sz="1250">
                <a:solidFill>
                  <a:srgbClr val="DCE6F2"/>
                </a:solidFill>
                <a:latin typeface="Quattrocento Sans"/>
                <a:ea typeface="Quattrocento Sans"/>
                <a:cs typeface="Quattrocento Sans"/>
                <a:sym typeface="Quattrocento Sans"/>
              </a:rPr>
              <a:t>Meshing three or more synchronized campus access points to compute true Cartesian (X,Y) coordinates via intersection equations.</a:t>
            </a:r>
            <a:endParaRPr/>
          </a:p>
          <a:p>
            <a:pPr indent="0" lvl="0" marL="0" marR="0" rtl="0" algn="l">
              <a:spcBef>
                <a:spcPts val="1400"/>
              </a:spcBef>
              <a:spcAft>
                <a:spcPts val="0"/>
              </a:spcAft>
              <a:buNone/>
            </a:pPr>
            <a:r>
              <a:rPr b="1" lang="en-US" sz="1250">
                <a:solidFill>
                  <a:srgbClr val="38DAEC"/>
                </a:solidFill>
                <a:latin typeface="Quattrocento Sans"/>
                <a:ea typeface="Quattrocento Sans"/>
                <a:cs typeface="Quattrocento Sans"/>
                <a:sym typeface="Quattrocento Sans"/>
              </a:rPr>
              <a:t>•  Adaptive Noise Filtering: </a:t>
            </a:r>
            <a:r>
              <a:rPr lang="en-US" sz="1250">
                <a:solidFill>
                  <a:srgbClr val="DCE6F2"/>
                </a:solidFill>
                <a:latin typeface="Quattrocento Sans"/>
                <a:ea typeface="Quattrocento Sans"/>
                <a:cs typeface="Quattrocento Sans"/>
                <a:sym typeface="Quattrocento Sans"/>
              </a:rPr>
              <a:t>Replacing basic EMA filters with Kalman filtering and Machine Learning outlier rejection engines for ultra-clean spatial signals.</a:t>
            </a:r>
            <a:endParaRPr/>
          </a:p>
        </p:txBody>
      </p:sp>
      <p:sp>
        <p:nvSpPr>
          <p:cNvPr id="563" name="Google Shape;563;p22"/>
          <p:cNvSpPr/>
          <p:nvPr/>
        </p:nvSpPr>
        <p:spPr>
          <a:xfrm>
            <a:off x="8046720" y="1463040"/>
            <a:ext cx="3566160" cy="4663440"/>
          </a:xfrm>
          <a:prstGeom prst="roundRect">
            <a:avLst>
              <a:gd fmla="val 16667" name="adj"/>
            </a:avLst>
          </a:prstGeom>
          <a:solidFill>
            <a:srgbClr val="152342"/>
          </a:solidFill>
          <a:ln cap="flat" cmpd="sng" w="19050">
            <a:solidFill>
              <a:srgbClr val="00A8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22"/>
          <p:cNvSpPr txBox="1"/>
          <p:nvPr/>
        </p:nvSpPr>
        <p:spPr>
          <a:xfrm>
            <a:off x="8229600" y="1645920"/>
            <a:ext cx="320040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Quattrocento Sans"/>
                <a:ea typeface="Quattrocento Sans"/>
                <a:cs typeface="Quattrocento Sans"/>
                <a:sym typeface="Quattrocento Sans"/>
              </a:rPr>
              <a:t>🏢 Tier 3: Enterprise Scale</a:t>
            </a:r>
            <a:endParaRPr/>
          </a:p>
          <a:p>
            <a:pPr indent="0" lvl="0" marL="0" marR="0" rtl="0" algn="l">
              <a:spcBef>
                <a:spcPts val="1800"/>
              </a:spcBef>
              <a:spcAft>
                <a:spcPts val="0"/>
              </a:spcAft>
              <a:buNone/>
            </a:pPr>
            <a:r>
              <a:rPr b="1" lang="en-US" sz="1250">
                <a:solidFill>
                  <a:srgbClr val="38DAEC"/>
                </a:solidFill>
                <a:latin typeface="Quattrocento Sans"/>
                <a:ea typeface="Quattrocento Sans"/>
                <a:cs typeface="Quattrocento Sans"/>
                <a:sym typeface="Quattrocento Sans"/>
              </a:rPr>
              <a:t>•  Smart Campus Deployment: </a:t>
            </a:r>
            <a:r>
              <a:rPr lang="en-US" sz="1250">
                <a:solidFill>
                  <a:srgbClr val="DCE6F2"/>
                </a:solidFill>
                <a:latin typeface="Quattrocento Sans"/>
                <a:ea typeface="Quattrocento Sans"/>
                <a:cs typeface="Quattrocento Sans"/>
                <a:sym typeface="Quattrocento Sans"/>
              </a:rPr>
              <a:t>Scaling the digital twin engine across multi-room medical recovery wards and university academic lab buildings.</a:t>
            </a:r>
            <a:endParaRPr/>
          </a:p>
          <a:p>
            <a:pPr indent="0" lvl="0" marL="0" marR="0" rtl="0" algn="l">
              <a:spcBef>
                <a:spcPts val="1400"/>
              </a:spcBef>
              <a:spcAft>
                <a:spcPts val="0"/>
              </a:spcAft>
              <a:buNone/>
            </a:pPr>
            <a:r>
              <a:rPr b="1" lang="en-US" sz="1250">
                <a:solidFill>
                  <a:srgbClr val="38DAEC"/>
                </a:solidFill>
                <a:latin typeface="Quattrocento Sans"/>
                <a:ea typeface="Quattrocento Sans"/>
                <a:cs typeface="Quattrocento Sans"/>
                <a:sym typeface="Quattrocento Sans"/>
              </a:rPr>
              <a:t>•  Predictive Heatmap Analytics: </a:t>
            </a:r>
            <a:r>
              <a:rPr lang="en-US" sz="1250">
                <a:solidFill>
                  <a:srgbClr val="DCE6F2"/>
                </a:solidFill>
                <a:latin typeface="Quattrocento Sans"/>
                <a:ea typeface="Quattrocento Sans"/>
                <a:cs typeface="Quattrocento Sans"/>
                <a:sym typeface="Quattrocento Sans"/>
              </a:rPr>
              <a:t>Aggregating long-term spatial occupancy telemetry to generate automated thermal traffic heatmaps and HVAC energy optimizations.</a:t>
            </a:r>
            <a:endParaRPr/>
          </a:p>
          <a:p>
            <a:pPr indent="0" lvl="0" marL="0" marR="0" rtl="0" algn="l">
              <a:spcBef>
                <a:spcPts val="1400"/>
              </a:spcBef>
              <a:spcAft>
                <a:spcPts val="0"/>
              </a:spcAft>
              <a:buNone/>
            </a:pPr>
            <a:r>
              <a:rPr b="1" lang="en-US" sz="1250">
                <a:solidFill>
                  <a:srgbClr val="38DAEC"/>
                </a:solidFill>
                <a:latin typeface="Quattrocento Sans"/>
                <a:ea typeface="Quattrocento Sans"/>
                <a:cs typeface="Quattrocento Sans"/>
                <a:sym typeface="Quattrocento Sans"/>
              </a:rPr>
              <a:t>•  Open-Source Benchmark: </a:t>
            </a:r>
            <a:r>
              <a:rPr lang="en-US" sz="1250">
                <a:solidFill>
                  <a:srgbClr val="DCE6F2"/>
                </a:solidFill>
                <a:latin typeface="Quattrocento Sans"/>
                <a:ea typeface="Quattrocento Sans"/>
                <a:cs typeface="Quattrocento Sans"/>
                <a:sym typeface="Quattrocento Sans"/>
              </a:rPr>
              <a:t>Publishing standardized RSSI/CSI localization datasets to empower the global research academic community.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23"/>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23"/>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22. SYSTEM VERIFICATION &amp; DEMO</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Experimental Demo Screens Showcase Gallery</a:t>
            </a:r>
            <a:endParaRPr/>
          </a:p>
        </p:txBody>
      </p:sp>
      <p:sp>
        <p:nvSpPr>
          <p:cNvPr id="572" name="Google Shape;572;p23"/>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23"/>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23"/>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575" name="Google Shape;575;p23"/>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23 / 25</a:t>
            </a:r>
            <a:endParaRPr/>
          </a:p>
        </p:txBody>
      </p:sp>
      <p:sp>
        <p:nvSpPr>
          <p:cNvPr id="576" name="Google Shape;576;p23"/>
          <p:cNvSpPr/>
          <p:nvPr/>
        </p:nvSpPr>
        <p:spPr>
          <a:xfrm>
            <a:off x="548640" y="1463040"/>
            <a:ext cx="3520440" cy="2194560"/>
          </a:xfrm>
          <a:prstGeom prst="roundRect">
            <a:avLst>
              <a:gd fmla="val 16667" name="adj"/>
            </a:avLst>
          </a:prstGeom>
          <a:solidFill>
            <a:srgbClr val="0E1729"/>
          </a:solidFill>
          <a:ln cap="flat" cmpd="sng" w="25400">
            <a:solidFill>
              <a:srgbClr val="38DAE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23"/>
          <p:cNvSpPr/>
          <p:nvPr/>
        </p:nvSpPr>
        <p:spPr>
          <a:xfrm>
            <a:off x="731520" y="1645920"/>
            <a:ext cx="3154680" cy="1828800"/>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600"/>
              </a:spcBef>
              <a:spcAft>
                <a:spcPts val="0"/>
              </a:spcAft>
              <a:buNone/>
            </a:pPr>
            <a:r>
              <a:t/>
            </a:r>
            <a:endParaRPr/>
          </a:p>
        </p:txBody>
      </p:sp>
      <p:sp>
        <p:nvSpPr>
          <p:cNvPr id="578" name="Google Shape;578;p23"/>
          <p:cNvSpPr/>
          <p:nvPr/>
        </p:nvSpPr>
        <p:spPr>
          <a:xfrm>
            <a:off x="4334256" y="1463040"/>
            <a:ext cx="3520440" cy="2194560"/>
          </a:xfrm>
          <a:prstGeom prst="roundRect">
            <a:avLst>
              <a:gd fmla="val 16667" name="adj"/>
            </a:avLst>
          </a:prstGeom>
          <a:solidFill>
            <a:srgbClr val="0E1729"/>
          </a:solidFill>
          <a:ln cap="flat" cmpd="sng" w="25400">
            <a:solidFill>
              <a:srgbClr val="38DAE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23"/>
          <p:cNvSpPr/>
          <p:nvPr/>
        </p:nvSpPr>
        <p:spPr>
          <a:xfrm>
            <a:off x="4517136" y="1645920"/>
            <a:ext cx="3154680" cy="1828800"/>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rtl="0" algn="ctr">
              <a:spcBef>
                <a:spcPts val="600"/>
              </a:spcBef>
              <a:spcAft>
                <a:spcPts val="0"/>
              </a:spcAft>
              <a:buNone/>
            </a:pPr>
            <a:r>
              <a:t/>
            </a:r>
            <a:endParaRPr/>
          </a:p>
          <a:p>
            <a:pPr indent="0" lvl="0" marL="0" marR="0" rtl="0" algn="ctr">
              <a:spcBef>
                <a:spcPts val="600"/>
              </a:spcBef>
              <a:spcAft>
                <a:spcPts val="0"/>
              </a:spcAft>
              <a:buNone/>
            </a:pPr>
            <a:r>
              <a:t/>
            </a:r>
            <a:endParaRPr/>
          </a:p>
        </p:txBody>
      </p:sp>
      <p:sp>
        <p:nvSpPr>
          <p:cNvPr id="580" name="Google Shape;580;p23"/>
          <p:cNvSpPr/>
          <p:nvPr/>
        </p:nvSpPr>
        <p:spPr>
          <a:xfrm>
            <a:off x="8119872" y="1463040"/>
            <a:ext cx="3520440" cy="2194560"/>
          </a:xfrm>
          <a:prstGeom prst="roundRect">
            <a:avLst>
              <a:gd fmla="val 16667" name="adj"/>
            </a:avLst>
          </a:prstGeom>
          <a:solidFill>
            <a:srgbClr val="0E1729"/>
          </a:solidFill>
          <a:ln cap="flat" cmpd="sng" w="25400">
            <a:solidFill>
              <a:srgbClr val="38DAE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p23"/>
          <p:cNvSpPr/>
          <p:nvPr/>
        </p:nvSpPr>
        <p:spPr>
          <a:xfrm>
            <a:off x="8302752" y="1645920"/>
            <a:ext cx="3154680" cy="1828800"/>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600"/>
              </a:spcBef>
              <a:spcAft>
                <a:spcPts val="0"/>
              </a:spcAft>
              <a:buNone/>
            </a:pPr>
            <a:r>
              <a:t/>
            </a:r>
            <a:endParaRPr/>
          </a:p>
        </p:txBody>
      </p:sp>
      <p:sp>
        <p:nvSpPr>
          <p:cNvPr id="582" name="Google Shape;582;p23"/>
          <p:cNvSpPr/>
          <p:nvPr/>
        </p:nvSpPr>
        <p:spPr>
          <a:xfrm>
            <a:off x="548640" y="3840480"/>
            <a:ext cx="3520440" cy="2194560"/>
          </a:xfrm>
          <a:prstGeom prst="roundRect">
            <a:avLst>
              <a:gd fmla="val 16667" name="adj"/>
            </a:avLst>
          </a:prstGeom>
          <a:solidFill>
            <a:srgbClr val="0E1729"/>
          </a:solidFill>
          <a:ln cap="flat" cmpd="sng" w="25400">
            <a:solidFill>
              <a:srgbClr val="38DAE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23"/>
          <p:cNvSpPr/>
          <p:nvPr/>
        </p:nvSpPr>
        <p:spPr>
          <a:xfrm>
            <a:off x="731520" y="4023360"/>
            <a:ext cx="3154680" cy="1828800"/>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600"/>
              </a:spcBef>
              <a:spcAft>
                <a:spcPts val="0"/>
              </a:spcAft>
              <a:buNone/>
            </a:pPr>
            <a:r>
              <a:t/>
            </a:r>
            <a:endParaRPr/>
          </a:p>
        </p:txBody>
      </p:sp>
      <p:sp>
        <p:nvSpPr>
          <p:cNvPr id="584" name="Google Shape;584;p23"/>
          <p:cNvSpPr/>
          <p:nvPr/>
        </p:nvSpPr>
        <p:spPr>
          <a:xfrm>
            <a:off x="4334256" y="3840480"/>
            <a:ext cx="3520440" cy="2194560"/>
          </a:xfrm>
          <a:prstGeom prst="roundRect">
            <a:avLst>
              <a:gd fmla="val 16667" name="adj"/>
            </a:avLst>
          </a:prstGeom>
          <a:solidFill>
            <a:srgbClr val="0E1729"/>
          </a:solidFill>
          <a:ln cap="flat" cmpd="sng" w="25400">
            <a:solidFill>
              <a:srgbClr val="38DAE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23"/>
          <p:cNvSpPr/>
          <p:nvPr/>
        </p:nvSpPr>
        <p:spPr>
          <a:xfrm>
            <a:off x="4517136" y="4023360"/>
            <a:ext cx="3154800" cy="1828800"/>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600"/>
              </a:spcBef>
              <a:spcAft>
                <a:spcPts val="0"/>
              </a:spcAft>
              <a:buNone/>
            </a:pPr>
            <a:r>
              <a:t/>
            </a:r>
            <a:endParaRPr/>
          </a:p>
        </p:txBody>
      </p:sp>
      <p:sp>
        <p:nvSpPr>
          <p:cNvPr id="586" name="Google Shape;586;p23"/>
          <p:cNvSpPr/>
          <p:nvPr/>
        </p:nvSpPr>
        <p:spPr>
          <a:xfrm>
            <a:off x="8183147" y="3787718"/>
            <a:ext cx="3520500" cy="2194500"/>
          </a:xfrm>
          <a:prstGeom prst="roundRect">
            <a:avLst>
              <a:gd fmla="val 16667" name="adj"/>
            </a:avLst>
          </a:prstGeom>
          <a:solidFill>
            <a:srgbClr val="0E1729"/>
          </a:solidFill>
          <a:ln cap="flat" cmpd="sng" w="25400">
            <a:solidFill>
              <a:srgbClr val="38DAE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23"/>
          <p:cNvSpPr/>
          <p:nvPr/>
        </p:nvSpPr>
        <p:spPr>
          <a:xfrm>
            <a:off x="8302752" y="4023360"/>
            <a:ext cx="3154680" cy="1828800"/>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600"/>
              </a:spcBef>
              <a:spcAft>
                <a:spcPts val="0"/>
              </a:spcAft>
              <a:buNone/>
            </a:pPr>
            <a:r>
              <a:t/>
            </a:r>
            <a:endParaRPr/>
          </a:p>
        </p:txBody>
      </p:sp>
      <p:pic>
        <p:nvPicPr>
          <p:cNvPr id="588" name="Google Shape;588;p23"/>
          <p:cNvPicPr preferRelativeResize="0"/>
          <p:nvPr/>
        </p:nvPicPr>
        <p:blipFill>
          <a:blip r:embed="rId3">
            <a:alphaModFix/>
          </a:blip>
          <a:stretch>
            <a:fillRect/>
          </a:stretch>
        </p:blipFill>
        <p:spPr>
          <a:xfrm>
            <a:off x="731525" y="1645925"/>
            <a:ext cx="3154700" cy="1828801"/>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0"/>
              </a:srgbClr>
            </a:outerShdw>
          </a:effectLst>
        </p:spPr>
      </p:pic>
      <p:pic>
        <p:nvPicPr>
          <p:cNvPr id="589" name="Google Shape;589;p23"/>
          <p:cNvPicPr preferRelativeResize="0"/>
          <p:nvPr/>
        </p:nvPicPr>
        <p:blipFill>
          <a:blip r:embed="rId4">
            <a:alphaModFix/>
          </a:blip>
          <a:stretch>
            <a:fillRect/>
          </a:stretch>
        </p:blipFill>
        <p:spPr>
          <a:xfrm>
            <a:off x="4517125" y="1645925"/>
            <a:ext cx="3154675" cy="1828800"/>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0"/>
              </a:srgbClr>
            </a:outerShdw>
          </a:effectLst>
        </p:spPr>
      </p:pic>
      <p:pic>
        <p:nvPicPr>
          <p:cNvPr id="590" name="Google Shape;590;p23"/>
          <p:cNvPicPr preferRelativeResize="0"/>
          <p:nvPr/>
        </p:nvPicPr>
        <p:blipFill>
          <a:blip r:embed="rId5">
            <a:alphaModFix/>
          </a:blip>
          <a:stretch>
            <a:fillRect/>
          </a:stretch>
        </p:blipFill>
        <p:spPr>
          <a:xfrm>
            <a:off x="8302750" y="1645925"/>
            <a:ext cx="3154801" cy="1828800"/>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0"/>
              </a:srgbClr>
            </a:outerShdw>
          </a:effectLst>
        </p:spPr>
      </p:pic>
      <p:pic>
        <p:nvPicPr>
          <p:cNvPr id="591" name="Google Shape;591;p23"/>
          <p:cNvPicPr preferRelativeResize="0"/>
          <p:nvPr/>
        </p:nvPicPr>
        <p:blipFill>
          <a:blip r:embed="rId6">
            <a:alphaModFix/>
          </a:blip>
          <a:stretch>
            <a:fillRect/>
          </a:stretch>
        </p:blipFill>
        <p:spPr>
          <a:xfrm>
            <a:off x="731525" y="4023350"/>
            <a:ext cx="3154675" cy="1723300"/>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0"/>
              </a:srgbClr>
            </a:outerShdw>
          </a:effectLst>
        </p:spPr>
      </p:pic>
      <p:pic>
        <p:nvPicPr>
          <p:cNvPr id="592" name="Google Shape;592;p23"/>
          <p:cNvPicPr preferRelativeResize="0"/>
          <p:nvPr/>
        </p:nvPicPr>
        <p:blipFill>
          <a:blip r:embed="rId7">
            <a:alphaModFix/>
          </a:blip>
          <a:stretch>
            <a:fillRect/>
          </a:stretch>
        </p:blipFill>
        <p:spPr>
          <a:xfrm>
            <a:off x="4517125" y="4035675"/>
            <a:ext cx="3154677" cy="1828800"/>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0"/>
              </a:srgbClr>
            </a:outerShdw>
          </a:effectLst>
        </p:spPr>
      </p:pic>
      <p:pic>
        <p:nvPicPr>
          <p:cNvPr id="593" name="Google Shape;593;p23"/>
          <p:cNvPicPr preferRelativeResize="0"/>
          <p:nvPr/>
        </p:nvPicPr>
        <p:blipFill>
          <a:blip r:embed="rId8">
            <a:alphaModFix/>
          </a:blip>
          <a:stretch>
            <a:fillRect/>
          </a:stretch>
        </p:blipFill>
        <p:spPr>
          <a:xfrm>
            <a:off x="8242988" y="4001375"/>
            <a:ext cx="3400825" cy="1872750"/>
          </a:xfrm>
          <a:prstGeom prst="rect">
            <a:avLst/>
          </a:prstGeom>
          <a:solidFill>
            <a:srgbClr val="182646"/>
          </a:solidFill>
          <a:ln cap="flat" cmpd="sng" w="12700">
            <a:solidFill>
              <a:srgbClr val="00C3FF"/>
            </a:solidFill>
            <a:prstDash val="solid"/>
            <a:round/>
            <a:headEnd len="sm" w="sm" type="none"/>
            <a:tailEnd len="sm" w="sm" type="none"/>
          </a:ln>
          <a:effectLst>
            <a:outerShdw blurRad="40000" rotWithShape="0" dir="5400000" dist="23000">
              <a:srgbClr val="000000">
                <a:alpha val="349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24"/>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p24"/>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24"/>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24"/>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603" name="Google Shape;603;p24"/>
          <p:cNvSpPr txBox="1"/>
          <p:nvPr/>
        </p:nvSpPr>
        <p:spPr>
          <a:xfrm>
            <a:off x="7838236" y="1645920"/>
            <a:ext cx="320100" cy="3078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a:p>
        </p:txBody>
      </p:sp>
      <p:sp>
        <p:nvSpPr>
          <p:cNvPr id="604" name="Google Shape;604;p24"/>
          <p:cNvSpPr txBox="1"/>
          <p:nvPr/>
        </p:nvSpPr>
        <p:spPr>
          <a:xfrm>
            <a:off x="4033418" y="4046220"/>
            <a:ext cx="320100" cy="3078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t/>
            </a:r>
            <a:endParaRPr/>
          </a:p>
        </p:txBody>
      </p:sp>
      <p:pic>
        <p:nvPicPr>
          <p:cNvPr id="605" name="Google Shape;605;p24"/>
          <p:cNvPicPr preferRelativeResize="0"/>
          <p:nvPr/>
        </p:nvPicPr>
        <p:blipFill>
          <a:blip r:embed="rId3">
            <a:alphaModFix/>
          </a:blip>
          <a:stretch>
            <a:fillRect/>
          </a:stretch>
        </p:blipFill>
        <p:spPr>
          <a:xfrm>
            <a:off x="0" y="61975"/>
            <a:ext cx="12125076" cy="6857999"/>
          </a:xfrm>
          <a:prstGeom prst="rect">
            <a:avLst/>
          </a:prstGeom>
          <a:solidFill>
            <a:srgbClr val="0B162C"/>
          </a:solidFill>
          <a:ln>
            <a:noFill/>
          </a:ln>
          <a:effectLst>
            <a:outerShdw blurRad="40000" rotWithShape="0" dir="5400000" dist="23000">
              <a:srgbClr val="000000">
                <a:alpha val="349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25"/>
          <p:cNvSpPr/>
          <p:nvPr/>
        </p:nvSpPr>
        <p:spPr>
          <a:xfrm>
            <a:off x="0" y="0"/>
            <a:ext cx="12191695" cy="6858000"/>
          </a:xfrm>
          <a:prstGeom prst="rect">
            <a:avLst/>
          </a:prstGeom>
          <a:solidFill>
            <a:srgbClr val="0B162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12" name="Google Shape;612;p25"/>
          <p:cNvSpPr txBox="1"/>
          <p:nvPr/>
        </p:nvSpPr>
        <p:spPr>
          <a:xfrm>
            <a:off x="548640" y="365760"/>
            <a:ext cx="11094415"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00">
                <a:solidFill>
                  <a:srgbClr val="38DAEC"/>
                </a:solidFill>
                <a:latin typeface="Quattrocento Sans"/>
                <a:ea typeface="Quattrocento Sans"/>
                <a:cs typeface="Quattrocento Sans"/>
                <a:sym typeface="Quattrocento Sans"/>
              </a:rPr>
              <a:t>24. FINAL REMARKS &amp; DEFENSE Q&amp;A</a:t>
            </a:r>
            <a:endParaRPr/>
          </a:p>
          <a:p>
            <a:pPr indent="0" lvl="0" marL="0" marR="0" rtl="0" algn="l">
              <a:spcBef>
                <a:spcPts val="200"/>
              </a:spcBef>
              <a:spcAft>
                <a:spcPts val="0"/>
              </a:spcAft>
              <a:buNone/>
            </a:pPr>
            <a:r>
              <a:rPr b="1" lang="en-US" sz="2800">
                <a:solidFill>
                  <a:srgbClr val="FFFFFF"/>
                </a:solidFill>
                <a:latin typeface="Quattrocento Sans"/>
                <a:ea typeface="Quattrocento Sans"/>
                <a:cs typeface="Quattrocento Sans"/>
                <a:sym typeface="Quattrocento Sans"/>
              </a:rPr>
              <a:t>Conclusion, Impact &amp; Open Q&amp;A</a:t>
            </a:r>
            <a:endParaRPr/>
          </a:p>
        </p:txBody>
      </p:sp>
      <p:sp>
        <p:nvSpPr>
          <p:cNvPr id="613" name="Google Shape;613;p25"/>
          <p:cNvSpPr/>
          <p:nvPr/>
        </p:nvSpPr>
        <p:spPr>
          <a:xfrm>
            <a:off x="548640" y="1207008"/>
            <a:ext cx="11094415" cy="22860"/>
          </a:xfrm>
          <a:prstGeom prst="rect">
            <a:avLst/>
          </a:prstGeom>
          <a:solidFill>
            <a:srgbClr val="00C3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14" name="Google Shape;614;p25"/>
          <p:cNvSpPr/>
          <p:nvPr/>
        </p:nvSpPr>
        <p:spPr>
          <a:xfrm>
            <a:off x="548640" y="6400800"/>
            <a:ext cx="11094415" cy="13716"/>
          </a:xfrm>
          <a:prstGeom prst="rect">
            <a:avLst/>
          </a:prstGeom>
          <a:solidFill>
            <a:srgbClr val="1D305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15" name="Google Shape;615;p25"/>
          <p:cNvSpPr txBox="1"/>
          <p:nvPr/>
        </p:nvSpPr>
        <p:spPr>
          <a:xfrm>
            <a:off x="548640" y="6446520"/>
            <a:ext cx="11094415"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94A3B8"/>
                </a:solidFill>
                <a:latin typeface="Quattrocento Sans"/>
                <a:ea typeface="Quattrocento Sans"/>
                <a:cs typeface="Quattrocento Sans"/>
                <a:sym typeface="Quattrocento Sans"/>
              </a:rPr>
              <a:t>SignalSense-Gait3D | Real-Time Wi-Fi Digital Twin Laboratory for Multi-User Human Motion Monitoring</a:t>
            </a:r>
            <a:endParaRPr/>
          </a:p>
        </p:txBody>
      </p:sp>
      <p:sp>
        <p:nvSpPr>
          <p:cNvPr id="616" name="Google Shape;616;p25"/>
          <p:cNvSpPr txBox="1"/>
          <p:nvPr/>
        </p:nvSpPr>
        <p:spPr>
          <a:xfrm>
            <a:off x="9601200" y="6446520"/>
            <a:ext cx="2041855"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00C3FF"/>
                </a:solidFill>
                <a:latin typeface="Quattrocento Sans"/>
                <a:ea typeface="Quattrocento Sans"/>
                <a:cs typeface="Quattrocento Sans"/>
                <a:sym typeface="Quattrocento Sans"/>
              </a:rPr>
              <a:t>Slide 25 / 25</a:t>
            </a:r>
            <a:endParaRPr/>
          </a:p>
        </p:txBody>
      </p:sp>
      <p:sp>
        <p:nvSpPr>
          <p:cNvPr id="617" name="Google Shape;617;p25"/>
          <p:cNvSpPr/>
          <p:nvPr/>
        </p:nvSpPr>
        <p:spPr>
          <a:xfrm>
            <a:off x="548640" y="1463040"/>
            <a:ext cx="5486400" cy="4663440"/>
          </a:xfrm>
          <a:prstGeom prst="roundRect">
            <a:avLst>
              <a:gd fmla="val 16667" name="adj"/>
            </a:avLst>
          </a:prstGeom>
          <a:solidFill>
            <a:srgbClr val="152342"/>
          </a:solidFill>
          <a:ln cap="flat" cmpd="sng" w="19050">
            <a:solidFill>
              <a:srgbClr val="00C3F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25"/>
          <p:cNvSpPr txBox="1"/>
          <p:nvPr/>
        </p:nvSpPr>
        <p:spPr>
          <a:xfrm>
            <a:off x="731520" y="1645920"/>
            <a:ext cx="5120640" cy="4297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FFFF"/>
                </a:solidFill>
                <a:latin typeface="Quattrocento Sans"/>
                <a:ea typeface="Quattrocento Sans"/>
                <a:cs typeface="Quattrocento Sans"/>
                <a:sym typeface="Quattrocento Sans"/>
              </a:rPr>
              <a:t>🎓 Project Achievements &amp; Impact</a:t>
            </a:r>
            <a:endParaRPr/>
          </a:p>
          <a:p>
            <a:pPr indent="0" lvl="0" marL="0" marR="0" rtl="0" algn="l">
              <a:spcBef>
                <a:spcPts val="1800"/>
              </a:spcBef>
              <a:spcAft>
                <a:spcPts val="0"/>
              </a:spcAft>
              <a:buNone/>
            </a:pPr>
            <a:r>
              <a:rPr b="1" lang="en-US" sz="1300">
                <a:solidFill>
                  <a:srgbClr val="38DAEC"/>
                </a:solidFill>
                <a:latin typeface="Quattrocento Sans"/>
                <a:ea typeface="Quattrocento Sans"/>
                <a:cs typeface="Quattrocento Sans"/>
                <a:sym typeface="Quattrocento Sans"/>
              </a:rPr>
              <a:t>•  🏆 Successful Testbed Realization: </a:t>
            </a:r>
            <a:r>
              <a:rPr lang="en-US" sz="1300">
                <a:solidFill>
                  <a:srgbClr val="DCE6F2"/>
                </a:solidFill>
                <a:latin typeface="Quattrocento Sans"/>
                <a:ea typeface="Quattrocento Sans"/>
                <a:cs typeface="Quattrocento Sans"/>
                <a:sym typeface="Quattrocento Sans"/>
              </a:rPr>
              <a:t>Developed and deployed a functional, research-grade Real-Time Wi-Fi Digital Twin laboratory software suite.</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 Practical Privacy Breakthrough: </a:t>
            </a:r>
            <a:r>
              <a:rPr lang="en-US" sz="1300">
                <a:solidFill>
                  <a:srgbClr val="DCE6F2"/>
                </a:solidFill>
                <a:latin typeface="Quattrocento Sans"/>
                <a:ea typeface="Quattrocento Sans"/>
                <a:cs typeface="Quattrocento Sans"/>
                <a:sym typeface="Quattrocento Sans"/>
              </a:rPr>
              <a:t>Validated zero-camera indoor spatial awareness, resolving critical privacy and ethical hurdles in living and lab zones.</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 Sub-Second Telemetry Pipeline: </a:t>
            </a:r>
            <a:r>
              <a:rPr lang="en-US" sz="1300">
                <a:solidFill>
                  <a:srgbClr val="DCE6F2"/>
                </a:solidFill>
                <a:latin typeface="Quattrocento Sans"/>
                <a:ea typeface="Quattrocento Sans"/>
                <a:cs typeface="Quattrocento Sans"/>
                <a:sym typeface="Quattrocento Sans"/>
              </a:rPr>
              <a:t>Engineered a reliable asynchronous Python &amp; React architecture capable of continuous multi-user synchronization.</a:t>
            </a:r>
            <a:endParaRPr/>
          </a:p>
          <a:p>
            <a:pPr indent="0" lvl="0" marL="0" marR="0" rtl="0" algn="l">
              <a:spcBef>
                <a:spcPts val="1400"/>
              </a:spcBef>
              <a:spcAft>
                <a:spcPts val="0"/>
              </a:spcAft>
              <a:buNone/>
            </a:pPr>
            <a:r>
              <a:rPr b="1" lang="en-US" sz="1300">
                <a:solidFill>
                  <a:srgbClr val="38DAEC"/>
                </a:solidFill>
                <a:latin typeface="Quattrocento Sans"/>
                <a:ea typeface="Quattrocento Sans"/>
                <a:cs typeface="Quattrocento Sans"/>
                <a:sym typeface="Quattrocento Sans"/>
              </a:rPr>
              <a:t>•  🚀 Solid Academic Foundation: </a:t>
            </a:r>
            <a:r>
              <a:rPr lang="en-US" sz="1300">
                <a:solidFill>
                  <a:srgbClr val="DCE6F2"/>
                </a:solidFill>
                <a:latin typeface="Quattrocento Sans"/>
                <a:ea typeface="Quattrocento Sans"/>
                <a:cs typeface="Quattrocento Sans"/>
                <a:sym typeface="Quattrocento Sans"/>
              </a:rPr>
              <a:t>Established an open, extensible software testbed ready for immediate integration of future Wi-Fi CSI and mmWave sensors.</a:t>
            </a:r>
            <a:endParaRPr/>
          </a:p>
        </p:txBody>
      </p:sp>
      <p:sp>
        <p:nvSpPr>
          <p:cNvPr id="619" name="Google Shape;619;p25"/>
          <p:cNvSpPr/>
          <p:nvPr/>
        </p:nvSpPr>
        <p:spPr>
          <a:xfrm>
            <a:off x="6309360" y="1463040"/>
            <a:ext cx="5303520" cy="4663440"/>
          </a:xfrm>
          <a:prstGeom prst="roundRect">
            <a:avLst>
              <a:gd fmla="val 16667" name="adj"/>
            </a:avLst>
          </a:prstGeom>
          <a:solidFill>
            <a:srgbClr val="1D3058"/>
          </a:solidFill>
          <a:ln cap="flat" cmpd="sng" w="25400">
            <a:solidFill>
              <a:srgbClr val="38DAE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20" name="Google Shape;620;p25"/>
          <p:cNvSpPr txBox="1"/>
          <p:nvPr/>
        </p:nvSpPr>
        <p:spPr>
          <a:xfrm>
            <a:off x="6583625" y="2486525"/>
            <a:ext cx="4755000" cy="21522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4000">
                <a:solidFill>
                  <a:srgbClr val="38DAEC"/>
                </a:solidFill>
                <a:latin typeface="Quattrocento Sans"/>
                <a:ea typeface="Quattrocento Sans"/>
                <a:cs typeface="Quattrocento Sans"/>
                <a:sym typeface="Quattrocento Sans"/>
              </a:rPr>
              <a:t>Thank You!</a:t>
            </a:r>
            <a:endParaRPr/>
          </a:p>
          <a:p>
            <a:pPr indent="0" lvl="0" marL="0" marR="0" rtl="0" algn="ctr">
              <a:spcBef>
                <a:spcPts val="2000"/>
              </a:spcBef>
              <a:spcAft>
                <a:spcPts val="0"/>
              </a:spcAft>
              <a:buNone/>
            </a:pPr>
            <a:r>
              <a:rPr lang="en-US" sz="1700">
                <a:solidFill>
                  <a:srgbClr val="FFFFFF"/>
                </a:solidFill>
                <a:latin typeface="Quattrocento Sans"/>
                <a:ea typeface="Quattrocento Sans"/>
                <a:cs typeface="Quattrocento Sans"/>
                <a:sym typeface="Quattrocento Sans"/>
              </a:rPr>
              <a:t>We warmly welcome your evaluation questions, academic critique, and technical discussion.</a:t>
            </a:r>
            <a:endParaRPr/>
          </a:p>
          <a:p>
            <a:pPr indent="0" lvl="0" marL="0" marR="0" rtl="0" algn="ctr">
              <a:spcBef>
                <a:spcPts val="35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